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orient="horz" pos="22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C3CAE-8814-FC70-79B5-392856FA24AA}" v="2" dt="2023-12-24T12:49:01.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guide pos="3840"/>
        <p:guide orient="horz" pos="2160"/>
        <p:guide orient="horz" pos="22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kan Berke İçellioğlu" userId="S::223010720052@kayseri.edu.tr::82476c50-5f1a-4c7b-86c4-7fd618a46f22" providerId="AD" clId="Web-{BD4C3CAE-8814-FC70-79B5-392856FA24AA}"/>
    <pc:docChg chg="modSld modMainMaster">
      <pc:chgData name="Hakan Berke İçellioğlu" userId="S::223010720052@kayseri.edu.tr::82476c50-5f1a-4c7b-86c4-7fd618a46f22" providerId="AD" clId="Web-{BD4C3CAE-8814-FC70-79B5-392856FA24AA}" dt="2023-12-24T12:49:01.789" v="1"/>
      <pc:docMkLst>
        <pc:docMk/>
      </pc:docMkLst>
      <pc:sldChg chg="modTransition">
        <pc:chgData name="Hakan Berke İçellioğlu" userId="S::223010720052@kayseri.edu.tr::82476c50-5f1a-4c7b-86c4-7fd618a46f22" providerId="AD" clId="Web-{BD4C3CAE-8814-FC70-79B5-392856FA24AA}" dt="2023-12-24T12:49:01.789" v="1"/>
        <pc:sldMkLst>
          <pc:docMk/>
          <pc:sldMk cId="1498396606" sldId="256"/>
        </pc:sldMkLst>
      </pc:sldChg>
      <pc:sldChg chg="modTransition">
        <pc:chgData name="Hakan Berke İçellioğlu" userId="S::223010720052@kayseri.edu.tr::82476c50-5f1a-4c7b-86c4-7fd618a46f22" providerId="AD" clId="Web-{BD4C3CAE-8814-FC70-79B5-392856FA24AA}" dt="2023-12-24T12:49:01.789" v="1"/>
        <pc:sldMkLst>
          <pc:docMk/>
          <pc:sldMk cId="1457664483" sldId="257"/>
        </pc:sldMkLst>
      </pc:sldChg>
      <pc:sldChg chg="modTransition">
        <pc:chgData name="Hakan Berke İçellioğlu" userId="S::223010720052@kayseri.edu.tr::82476c50-5f1a-4c7b-86c4-7fd618a46f22" providerId="AD" clId="Web-{BD4C3CAE-8814-FC70-79B5-392856FA24AA}" dt="2023-12-24T12:49:01.789" v="1"/>
        <pc:sldMkLst>
          <pc:docMk/>
          <pc:sldMk cId="3766398194" sldId="258"/>
        </pc:sldMkLst>
      </pc:sldChg>
      <pc:sldChg chg="modTransition">
        <pc:chgData name="Hakan Berke İçellioğlu" userId="S::223010720052@kayseri.edu.tr::82476c50-5f1a-4c7b-86c4-7fd618a46f22" providerId="AD" clId="Web-{BD4C3CAE-8814-FC70-79B5-392856FA24AA}" dt="2023-12-24T12:49:01.789" v="1"/>
        <pc:sldMkLst>
          <pc:docMk/>
          <pc:sldMk cId="3970546138" sldId="259"/>
        </pc:sldMkLst>
      </pc:sldChg>
      <pc:sldChg chg="modTransition">
        <pc:chgData name="Hakan Berke İçellioğlu" userId="S::223010720052@kayseri.edu.tr::82476c50-5f1a-4c7b-86c4-7fd618a46f22" providerId="AD" clId="Web-{BD4C3CAE-8814-FC70-79B5-392856FA24AA}" dt="2023-12-24T12:49:01.789" v="1"/>
        <pc:sldMkLst>
          <pc:docMk/>
          <pc:sldMk cId="3272589886" sldId="260"/>
        </pc:sldMkLst>
      </pc:sldChg>
      <pc:sldChg chg="modTransition">
        <pc:chgData name="Hakan Berke İçellioğlu" userId="S::223010720052@kayseri.edu.tr::82476c50-5f1a-4c7b-86c4-7fd618a46f22" providerId="AD" clId="Web-{BD4C3CAE-8814-FC70-79B5-392856FA24AA}" dt="2023-12-24T12:49:01.789" v="1"/>
        <pc:sldMkLst>
          <pc:docMk/>
          <pc:sldMk cId="1441677838" sldId="261"/>
        </pc:sldMkLst>
      </pc:sldChg>
      <pc:sldChg chg="modTransition">
        <pc:chgData name="Hakan Berke İçellioğlu" userId="S::223010720052@kayseri.edu.tr::82476c50-5f1a-4c7b-86c4-7fd618a46f22" providerId="AD" clId="Web-{BD4C3CAE-8814-FC70-79B5-392856FA24AA}" dt="2023-12-24T12:49:01.789" v="1"/>
        <pc:sldMkLst>
          <pc:docMk/>
          <pc:sldMk cId="3615779848" sldId="262"/>
        </pc:sldMkLst>
      </pc:sldChg>
      <pc:sldChg chg="modTransition">
        <pc:chgData name="Hakan Berke İçellioğlu" userId="S::223010720052@kayseri.edu.tr::82476c50-5f1a-4c7b-86c4-7fd618a46f22" providerId="AD" clId="Web-{BD4C3CAE-8814-FC70-79B5-392856FA24AA}" dt="2023-12-24T12:49:01.789" v="1"/>
        <pc:sldMkLst>
          <pc:docMk/>
          <pc:sldMk cId="1705851433" sldId="263"/>
        </pc:sldMkLst>
      </pc:sldChg>
      <pc:sldChg chg="modTransition">
        <pc:chgData name="Hakan Berke İçellioğlu" userId="S::223010720052@kayseri.edu.tr::82476c50-5f1a-4c7b-86c4-7fd618a46f22" providerId="AD" clId="Web-{BD4C3CAE-8814-FC70-79B5-392856FA24AA}" dt="2023-12-24T12:49:01.789" v="1"/>
        <pc:sldMkLst>
          <pc:docMk/>
          <pc:sldMk cId="1705851433" sldId="264"/>
        </pc:sldMkLst>
      </pc:sldChg>
      <pc:sldChg chg="modTransition">
        <pc:chgData name="Hakan Berke İçellioğlu" userId="S::223010720052@kayseri.edu.tr::82476c50-5f1a-4c7b-86c4-7fd618a46f22" providerId="AD" clId="Web-{BD4C3CAE-8814-FC70-79B5-392856FA24AA}" dt="2023-12-24T12:49:01.789" v="1"/>
        <pc:sldMkLst>
          <pc:docMk/>
          <pc:sldMk cId="1585671261" sldId="265"/>
        </pc:sldMkLst>
      </pc:sldChg>
      <pc:sldChg chg="modTransition">
        <pc:chgData name="Hakan Berke İçellioğlu" userId="S::223010720052@kayseri.edu.tr::82476c50-5f1a-4c7b-86c4-7fd618a46f22" providerId="AD" clId="Web-{BD4C3CAE-8814-FC70-79B5-392856FA24AA}" dt="2023-12-24T12:49:01.789" v="1"/>
        <pc:sldMkLst>
          <pc:docMk/>
          <pc:sldMk cId="208090346" sldId="266"/>
        </pc:sldMkLst>
      </pc:sldChg>
      <pc:sldChg chg="modTransition">
        <pc:chgData name="Hakan Berke İçellioğlu" userId="S::223010720052@kayseri.edu.tr::82476c50-5f1a-4c7b-86c4-7fd618a46f22" providerId="AD" clId="Web-{BD4C3CAE-8814-FC70-79B5-392856FA24AA}" dt="2023-12-24T12:49:01.789" v="1"/>
        <pc:sldMkLst>
          <pc:docMk/>
          <pc:sldMk cId="3710829674" sldId="267"/>
        </pc:sldMkLst>
      </pc:sldChg>
      <pc:sldChg chg="modTransition">
        <pc:chgData name="Hakan Berke İçellioğlu" userId="S::223010720052@kayseri.edu.tr::82476c50-5f1a-4c7b-86c4-7fd618a46f22" providerId="AD" clId="Web-{BD4C3CAE-8814-FC70-79B5-392856FA24AA}" dt="2023-12-24T12:49:01.789" v="1"/>
        <pc:sldMkLst>
          <pc:docMk/>
          <pc:sldMk cId="2906869573" sldId="268"/>
        </pc:sldMkLst>
      </pc:sldChg>
      <pc:sldChg chg="modTransition">
        <pc:chgData name="Hakan Berke İçellioğlu" userId="S::223010720052@kayseri.edu.tr::82476c50-5f1a-4c7b-86c4-7fd618a46f22" providerId="AD" clId="Web-{BD4C3CAE-8814-FC70-79B5-392856FA24AA}" dt="2023-12-24T12:49:01.789" v="1"/>
        <pc:sldMkLst>
          <pc:docMk/>
          <pc:sldMk cId="937667406" sldId="269"/>
        </pc:sldMkLst>
      </pc:sldChg>
      <pc:sldChg chg="modTransition">
        <pc:chgData name="Hakan Berke İçellioğlu" userId="S::223010720052@kayseri.edu.tr::82476c50-5f1a-4c7b-86c4-7fd618a46f22" providerId="AD" clId="Web-{BD4C3CAE-8814-FC70-79B5-392856FA24AA}" dt="2023-12-24T12:49:01.789" v="1"/>
        <pc:sldMkLst>
          <pc:docMk/>
          <pc:sldMk cId="4264883030" sldId="270"/>
        </pc:sldMkLst>
      </pc:sldChg>
      <pc:sldChg chg="modTransition">
        <pc:chgData name="Hakan Berke İçellioğlu" userId="S::223010720052@kayseri.edu.tr::82476c50-5f1a-4c7b-86c4-7fd618a46f22" providerId="AD" clId="Web-{BD4C3CAE-8814-FC70-79B5-392856FA24AA}" dt="2023-12-24T12:49:01.789" v="1"/>
        <pc:sldMkLst>
          <pc:docMk/>
          <pc:sldMk cId="755170443" sldId="271"/>
        </pc:sldMkLst>
      </pc:sldChg>
      <pc:sldChg chg="modTransition">
        <pc:chgData name="Hakan Berke İçellioğlu" userId="S::223010720052@kayseri.edu.tr::82476c50-5f1a-4c7b-86c4-7fd618a46f22" providerId="AD" clId="Web-{BD4C3CAE-8814-FC70-79B5-392856FA24AA}" dt="2023-12-24T12:49:01.789" v="1"/>
        <pc:sldMkLst>
          <pc:docMk/>
          <pc:sldMk cId="2233122349" sldId="272"/>
        </pc:sldMkLst>
      </pc:sldChg>
      <pc:sldChg chg="modTransition">
        <pc:chgData name="Hakan Berke İçellioğlu" userId="S::223010720052@kayseri.edu.tr::82476c50-5f1a-4c7b-86c4-7fd618a46f22" providerId="AD" clId="Web-{BD4C3CAE-8814-FC70-79B5-392856FA24AA}" dt="2023-12-24T12:49:01.789" v="1"/>
        <pc:sldMkLst>
          <pc:docMk/>
          <pc:sldMk cId="859039270" sldId="273"/>
        </pc:sldMkLst>
      </pc:sldChg>
      <pc:sldMasterChg chg="modTransition modSldLayout">
        <pc:chgData name="Hakan Berke İçellioğlu" userId="S::223010720052@kayseri.edu.tr::82476c50-5f1a-4c7b-86c4-7fd618a46f22" providerId="AD" clId="Web-{BD4C3CAE-8814-FC70-79B5-392856FA24AA}" dt="2023-12-24T12:49:01.789" v="1"/>
        <pc:sldMasterMkLst>
          <pc:docMk/>
          <pc:sldMasterMk cId="1443531188" sldId="2147483690"/>
        </pc:sldMasterMkLst>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3040905947" sldId="2147483691"/>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4018004870" sldId="2147483692"/>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1942095842" sldId="2147483693"/>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2726763126" sldId="2147483694"/>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1398842305" sldId="2147483695"/>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3849533115" sldId="2147483696"/>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2137859413" sldId="2147483697"/>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1370543045" sldId="2147483698"/>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1074566002" sldId="2147483699"/>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3756812971" sldId="2147483700"/>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3054810704" sldId="2147483701"/>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1824533190" sldId="2147483702"/>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2898879045" sldId="2147483703"/>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1132960842" sldId="2147483704"/>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2892902875" sldId="2147483705"/>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3929913802" sldId="2147483706"/>
          </pc:sldLayoutMkLst>
        </pc:sldLayoutChg>
        <pc:sldLayoutChg chg="modTransition">
          <pc:chgData name="Hakan Berke İçellioğlu" userId="S::223010720052@kayseri.edu.tr::82476c50-5f1a-4c7b-86c4-7fd618a46f22" providerId="AD" clId="Web-{BD4C3CAE-8814-FC70-79B5-392856FA24AA}" dt="2023-12-24T12:49:01.789" v="1"/>
          <pc:sldLayoutMkLst>
            <pc:docMk/>
            <pc:sldMasterMk cId="1443531188" sldId="2147483690"/>
            <pc:sldLayoutMk cId="305014865" sldId="2147483707"/>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tr-TR"/>
              <a:t>Asıl başlık stili için tıklatın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45F28E6-959B-4006-ADCF-0EBB07DF7B37}" type="datetimeFigureOut">
              <a:rPr lang="tr-TR" smtClean="0"/>
              <a:t>24.12.2023</a:t>
            </a:fld>
            <a:endParaRPr lang="tr-TR"/>
          </a:p>
        </p:txBody>
      </p:sp>
      <p:sp>
        <p:nvSpPr>
          <p:cNvPr id="5" name="Footer Placeholder 4"/>
          <p:cNvSpPr>
            <a:spLocks noGrp="1"/>
          </p:cNvSpPr>
          <p:nvPr>
            <p:ph type="ftr" sz="quarter" idx="11"/>
          </p:nvPr>
        </p:nvSpPr>
        <p:spPr>
          <a:xfrm>
            <a:off x="1876424" y="5410201"/>
            <a:ext cx="5124886" cy="365125"/>
          </a:xfrm>
        </p:spPr>
        <p:txBody>
          <a:bodyPr/>
          <a:lstStyle/>
          <a:p>
            <a:endParaRPr lang="tr-TR"/>
          </a:p>
        </p:txBody>
      </p:sp>
      <p:sp>
        <p:nvSpPr>
          <p:cNvPr id="6" name="Slide Number Placeholder 5"/>
          <p:cNvSpPr>
            <a:spLocks noGrp="1"/>
          </p:cNvSpPr>
          <p:nvPr>
            <p:ph type="sldNum" sz="quarter" idx="12"/>
          </p:nvPr>
        </p:nvSpPr>
        <p:spPr>
          <a:xfrm>
            <a:off x="9896911" y="5410199"/>
            <a:ext cx="771089" cy="365125"/>
          </a:xfrm>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3040905947"/>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45F28E6-959B-4006-ADCF-0EBB07DF7B37}" type="datetimeFigureOut">
              <a:rPr lang="tr-TR" smtClean="0"/>
              <a:t>24.12.2023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401800487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tr-TR"/>
              <a:t>Asıl başlık stili için tıklatın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445F28E6-959B-4006-ADCF-0EBB07DF7B37}" type="datetimeFigureOut">
              <a:rPr lang="tr-TR" smtClean="0"/>
              <a:t>24.12.2023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194209584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272676312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1141410" y="3073397"/>
            <a:ext cx="4878391" cy="2717801"/>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6172200" y="3073397"/>
            <a:ext cx="4875210" cy="2717801"/>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445F28E6-959B-4006-ADCF-0EBB07DF7B37}" type="datetimeFigureOut">
              <a:rPr lang="tr-TR" smtClean="0"/>
              <a:t>24.12.2023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1398842305"/>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445F28E6-959B-4006-ADCF-0EBB07DF7B37}" type="datetimeFigureOut">
              <a:rPr lang="tr-TR" smtClean="0"/>
              <a:t>24.12.2023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3849533115"/>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5F28E6-959B-4006-ADCF-0EBB07DF7B37}" type="datetimeFigureOut">
              <a:rPr lang="tr-TR" smtClean="0"/>
              <a:t>24.12.2023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2137859413"/>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tr-TR"/>
              <a:t>Asıl başlık stili için tıklatın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1370543045"/>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1074566002"/>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tr-TR"/>
              <a:t>Resim eklemek için simgeyi tıklatın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3756812971"/>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tr-TR"/>
              <a:t>Asıl başlık stili için tıklatın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3054810704"/>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tr-TR"/>
              <a:t>Asıl başlık stili için tıklatın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245331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tr-TR"/>
              <a:t>Asıl başlık stili için tıklatın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45F28E6-959B-4006-ADCF-0EBB07DF7B37}" type="datetimeFigureOut">
              <a:rPr lang="tr-TR" smtClean="0"/>
              <a:t>24.12.2023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2898879045"/>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tr-TR"/>
              <a:t>Asıl başlık stili için tıklatın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3" name="Date Placeholder 2"/>
          <p:cNvSpPr>
            <a:spLocks noGrp="1"/>
          </p:cNvSpPr>
          <p:nvPr>
            <p:ph type="dt" sz="half" idx="10"/>
          </p:nvPr>
        </p:nvSpPr>
        <p:spPr/>
        <p:txBody>
          <a:bodyPr/>
          <a:lstStyle/>
          <a:p>
            <a:fld id="{445F28E6-959B-4006-ADCF-0EBB07DF7B37}" type="datetimeFigureOut">
              <a:rPr lang="tr-TR" smtClean="0"/>
              <a:t>24.12.2023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1132960842"/>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tr-TR"/>
              <a:t>Asıl başlık stili için tıklatın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simgeyi tıklatın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simgeyi tıklatın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simgeyi tıklatın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3" name="Date Placeholder 2"/>
          <p:cNvSpPr>
            <a:spLocks noGrp="1"/>
          </p:cNvSpPr>
          <p:nvPr>
            <p:ph type="dt" sz="half" idx="10"/>
          </p:nvPr>
        </p:nvSpPr>
        <p:spPr/>
        <p:txBody>
          <a:bodyPr/>
          <a:lstStyle/>
          <a:p>
            <a:fld id="{445F28E6-959B-4006-ADCF-0EBB07DF7B37}" type="datetimeFigureOut">
              <a:rPr lang="tr-TR" smtClean="0"/>
              <a:t>24.12.2023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2892902875"/>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45F28E6-959B-4006-ADCF-0EBB07DF7B37}" type="datetimeFigureOut">
              <a:rPr lang="tr-TR" smtClean="0"/>
              <a:t>24.12.2023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3929913802"/>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45F28E6-959B-4006-ADCF-0EBB07DF7B37}" type="datetimeFigureOut">
              <a:rPr lang="tr-TR" smtClean="0"/>
              <a:t>24.12.2023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F9695E1-4E22-495E-B49F-2858CB899231}" type="slidenum">
              <a:rPr lang="tr-TR" smtClean="0"/>
              <a:t>‹#›</a:t>
            </a:fld>
            <a:endParaRPr lang="tr-TR"/>
          </a:p>
        </p:txBody>
      </p:sp>
    </p:spTree>
    <p:extLst>
      <p:ext uri="{BB962C8B-B14F-4D97-AF65-F5344CB8AC3E}">
        <p14:creationId xmlns:p14="http://schemas.microsoft.com/office/powerpoint/2010/main" val="305014865"/>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0"/>
            <a:duotone>
              <a:schemeClr val="bg2">
                <a:shade val="88000"/>
                <a:hueMod val="106000"/>
                <a:satMod val="140000"/>
                <a:lumMod val="54000"/>
              </a:schemeClr>
              <a:schemeClr val="bg2">
                <a:tint val="98000"/>
                <a:hueMod val="90000"/>
                <a:satMod val="150000"/>
                <a:lumMod val="160000"/>
              </a:schemeClr>
            </a:duotone>
            <a:lum/>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45F28E6-959B-4006-ADCF-0EBB07DF7B37}" type="datetimeFigureOut">
              <a:rPr lang="tr-TR" smtClean="0"/>
              <a:t>24.12.2023</a:t>
            </a:fld>
            <a:endParaRPr lang="tr-T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F9695E1-4E22-495E-B49F-2858CB899231}" type="slidenum">
              <a:rPr lang="tr-TR" smtClean="0"/>
              <a:t>‹#›</a:t>
            </a:fld>
            <a:endParaRPr lang="tr-TR"/>
          </a:p>
        </p:txBody>
      </p:sp>
    </p:spTree>
    <p:extLst>
      <p:ext uri="{BB962C8B-B14F-4D97-AF65-F5344CB8AC3E}">
        <p14:creationId xmlns:p14="http://schemas.microsoft.com/office/powerpoint/2010/main" val="1443531188"/>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ransition spd="slow">
    <p:push dir="u"/>
  </p:transition>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52876" y="3069000"/>
            <a:ext cx="9144000" cy="720000"/>
          </a:xfrm>
        </p:spPr>
        <p:txBody>
          <a:bodyPr>
            <a:normAutofit/>
          </a:bodyPr>
          <a:lstStyle/>
          <a:p>
            <a:r>
              <a:rPr lang="tr-TR" sz="4000" cap="none" dirty="0">
                <a:solidFill>
                  <a:schemeClr val="bg1"/>
                </a:solidFill>
                <a:latin typeface="Quicksand" pitchFamily="2" charset="-94"/>
              </a:rPr>
              <a:t>Temel Ağ Güvenliği</a:t>
            </a:r>
          </a:p>
        </p:txBody>
      </p:sp>
    </p:spTree>
    <p:extLst>
      <p:ext uri="{BB962C8B-B14F-4D97-AF65-F5344CB8AC3E}">
        <p14:creationId xmlns:p14="http://schemas.microsoft.com/office/powerpoint/2010/main" val="149839660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13" y="618518"/>
            <a:ext cx="9905998" cy="720000"/>
          </a:xfrm>
        </p:spPr>
        <p:txBody>
          <a:bodyPr>
            <a:normAutofit/>
          </a:bodyPr>
          <a:lstStyle/>
          <a:p>
            <a:r>
              <a:rPr lang="tr-TR" cap="none" dirty="0">
                <a:solidFill>
                  <a:schemeClr val="bg1"/>
                </a:solidFill>
                <a:latin typeface="Quicksand" pitchFamily="2" charset="-94"/>
              </a:rPr>
              <a:t>Tanım</a:t>
            </a:r>
          </a:p>
        </p:txBody>
      </p:sp>
      <p:sp>
        <p:nvSpPr>
          <p:cNvPr id="3" name="İçerik Yer Tutucusu 2"/>
          <p:cNvSpPr>
            <a:spLocks noGrp="1"/>
          </p:cNvSpPr>
          <p:nvPr>
            <p:ph idx="1"/>
          </p:nvPr>
        </p:nvSpPr>
        <p:spPr/>
        <p:txBody>
          <a:bodyPr>
            <a:normAutofit/>
          </a:bodyPr>
          <a:lstStyle/>
          <a:p>
            <a:pPr marL="0" indent="0">
              <a:lnSpc>
                <a:spcPct val="200000"/>
              </a:lnSpc>
              <a:buNone/>
            </a:pPr>
            <a:r>
              <a:rPr lang="tr-TR" sz="1600" dirty="0">
                <a:solidFill>
                  <a:schemeClr val="bg1"/>
                </a:solidFill>
                <a:latin typeface="Quicksand" pitchFamily="2" charset="-94"/>
              </a:rPr>
              <a:t>Ağ güvenliği; tehditlere, ağ kullanımına, kaynaklara yetkisiz erişilebilirliğe karşı koymak için belirlenen politika ve uygulamalardan oluşan süreçtir.</a:t>
            </a:r>
          </a:p>
        </p:txBody>
      </p:sp>
    </p:spTree>
    <p:extLst>
      <p:ext uri="{BB962C8B-B14F-4D97-AF65-F5344CB8AC3E}">
        <p14:creationId xmlns:p14="http://schemas.microsoft.com/office/powerpoint/2010/main" val="14576644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13" y="618518"/>
            <a:ext cx="9905998" cy="720000"/>
          </a:xfrm>
        </p:spPr>
        <p:txBody>
          <a:bodyPr>
            <a:normAutofit/>
          </a:bodyPr>
          <a:lstStyle/>
          <a:p>
            <a:r>
              <a:rPr lang="tr-TR" sz="3200" cap="none" dirty="0">
                <a:solidFill>
                  <a:schemeClr val="bg1"/>
                </a:solidFill>
                <a:latin typeface="Quicksand" pitchFamily="2" charset="-94"/>
              </a:rPr>
              <a:t>Ağ Güvenliğinin Önemi</a:t>
            </a:r>
          </a:p>
        </p:txBody>
      </p:sp>
      <p:sp>
        <p:nvSpPr>
          <p:cNvPr id="3" name="İçerik Yer Tutucusu 2"/>
          <p:cNvSpPr>
            <a:spLocks noGrp="1"/>
          </p:cNvSpPr>
          <p:nvPr>
            <p:ph idx="1"/>
          </p:nvPr>
        </p:nvSpPr>
        <p:spPr/>
        <p:txBody>
          <a:bodyPr>
            <a:noAutofit/>
          </a:bodyPr>
          <a:lstStyle/>
          <a:p>
            <a:pPr marL="0" indent="0">
              <a:lnSpc>
                <a:spcPct val="200000"/>
              </a:lnSpc>
              <a:buNone/>
            </a:pPr>
            <a:r>
              <a:rPr lang="tr-TR" sz="1600" dirty="0">
                <a:solidFill>
                  <a:schemeClr val="bg1"/>
                </a:solidFill>
                <a:latin typeface="Quicksand" pitchFamily="2" charset="-94"/>
              </a:rPr>
              <a:t>Hem bireyler hem de kuruluşlar için ciddi sonuçlar doğurabilir.</a:t>
            </a:r>
          </a:p>
          <a:p>
            <a:pPr marL="342900" lvl="0" indent="-342900">
              <a:lnSpc>
                <a:spcPct val="200000"/>
              </a:lnSpc>
              <a:spcAft>
                <a:spcPts val="0"/>
              </a:spcAft>
              <a:buFont typeface="+mj-lt"/>
              <a:buAutoNum type="arabicPeriod"/>
            </a:pPr>
            <a:r>
              <a:rPr lang="tr-TR" sz="1600" dirty="0">
                <a:solidFill>
                  <a:schemeClr val="bg1"/>
                </a:solidFill>
                <a:latin typeface="Quicksand" pitchFamily="2" charset="-94"/>
                <a:ea typeface="Calibri" panose="020F0502020204030204" pitchFamily="34" charset="0"/>
                <a:cs typeface="Times New Roman" panose="02020603050405020304" pitchFamily="18" charset="0"/>
              </a:rPr>
              <a:t>Kredi kartı bilgileri, şirket sırları, kişisel tanımlayıcı bilgiler gibi hassas veriler, yetkisiz erişim sağlaması.</a:t>
            </a:r>
          </a:p>
          <a:p>
            <a:pPr marL="342900" lvl="0" indent="-342900">
              <a:lnSpc>
                <a:spcPct val="200000"/>
              </a:lnSpc>
              <a:spcAft>
                <a:spcPts val="0"/>
              </a:spcAft>
              <a:buFont typeface="+mj-lt"/>
              <a:buAutoNum type="arabicPeriod"/>
            </a:pPr>
            <a:r>
              <a:rPr lang="tr-TR" sz="1600" dirty="0">
                <a:solidFill>
                  <a:schemeClr val="bg1"/>
                </a:solidFill>
                <a:latin typeface="Quicksand" pitchFamily="2" charset="-94"/>
                <a:ea typeface="Calibri" panose="020F0502020204030204" pitchFamily="34" charset="0"/>
                <a:cs typeface="Times New Roman" panose="02020603050405020304" pitchFamily="18" charset="0"/>
              </a:rPr>
              <a:t>Hizmet kesintilerini ve sistemlerin çökmesi. Örneğin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DDoS</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saldırıları gibi saldırılar, ağ trafiğini aşırı yükleyebilir ve hizmetlere erişimi engelleyebilir.</a:t>
            </a:r>
            <a:endParaRPr lang="tr-TR" sz="1600" dirty="0">
              <a:solidFill>
                <a:schemeClr val="bg1"/>
              </a:solidFill>
              <a:effectLst/>
              <a:latin typeface="Quicksand" pitchFamily="2" charset="-94"/>
              <a:ea typeface="Calibri" panose="020F0502020204030204" pitchFamily="34" charset="0"/>
              <a:cs typeface="Times New Roman" panose="02020603050405020304" pitchFamily="18" charset="0"/>
            </a:endParaRPr>
          </a:p>
          <a:p>
            <a:pPr marL="342900" lvl="0" indent="-342900">
              <a:lnSpc>
                <a:spcPct val="200000"/>
              </a:lnSpc>
              <a:spcAft>
                <a:spcPts val="800"/>
              </a:spcAft>
              <a:buFont typeface="+mj-lt"/>
              <a:buAutoNum type="arabicPeriod"/>
            </a:pPr>
            <a:r>
              <a:rPr lang="tr-TR" sz="1600" dirty="0">
                <a:solidFill>
                  <a:schemeClr val="bg1"/>
                </a:solidFill>
                <a:latin typeface="Quicksand" pitchFamily="2" charset="-94"/>
                <a:ea typeface="Calibri" panose="020F0502020204030204" pitchFamily="34" charset="0"/>
                <a:cs typeface="Times New Roman" panose="02020603050405020304" pitchFamily="18" charset="0"/>
              </a:rPr>
              <a:t>Güvenlik önlemleri, olayların etkilerini azaltarak iş akışını bozmadan devam etmesine yardımcı olur. Ayrıca, olası güvenlik risklerini önceden belirleyerek önlem alınmasını sağlar.</a:t>
            </a:r>
            <a:endParaRPr lang="tr-TR" sz="1600" dirty="0">
              <a:solidFill>
                <a:schemeClr val="bg1"/>
              </a:solidFill>
              <a:effectLst/>
              <a:latin typeface="Quicksand" pitchFamily="2" charset="-94"/>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6639819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cap="none" dirty="0">
                <a:solidFill>
                  <a:schemeClr val="bg1"/>
                </a:solidFill>
                <a:latin typeface="Quicksand" pitchFamily="2" charset="-94"/>
              </a:rPr>
              <a:t>Ağ Güvenliği İlkeleri</a:t>
            </a:r>
          </a:p>
        </p:txBody>
      </p:sp>
      <p:sp>
        <p:nvSpPr>
          <p:cNvPr id="3" name="İçerik Yer Tutucusu 2"/>
          <p:cNvSpPr>
            <a:spLocks noGrp="1"/>
          </p:cNvSpPr>
          <p:nvPr>
            <p:ph idx="1"/>
          </p:nvPr>
        </p:nvSpPr>
        <p:spPr/>
        <p:txBody>
          <a:bodyPr>
            <a:noAutofit/>
          </a:bodyPr>
          <a:lstStyle/>
          <a:p>
            <a:pPr marL="0" indent="0">
              <a:lnSpc>
                <a:spcPct val="150000"/>
              </a:lnSpc>
              <a:spcAft>
                <a:spcPts val="800"/>
              </a:spcAft>
              <a:buNone/>
            </a:pP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Gizlilik (</a:t>
            </a:r>
            <a:r>
              <a:rPr lang="tr-TR" sz="1400" dirty="0" err="1">
                <a:solidFill>
                  <a:schemeClr val="bg1"/>
                </a:solidFill>
                <a:effectLst/>
                <a:latin typeface="Quicksand" pitchFamily="2" charset="-94"/>
                <a:ea typeface="Calibri" panose="020F0502020204030204" pitchFamily="34" charset="0"/>
                <a:cs typeface="Times New Roman" panose="02020603050405020304" pitchFamily="18" charset="0"/>
              </a:rPr>
              <a:t>Confidentiality</a:t>
            </a: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 Verilere sadece yetkili kişilerin izinleri olmasından ötürü verilere erişim ve ifşa edilmesini önler.</a:t>
            </a:r>
          </a:p>
          <a:p>
            <a:pPr marL="0" indent="0">
              <a:lnSpc>
                <a:spcPct val="150000"/>
              </a:lnSpc>
              <a:spcAft>
                <a:spcPts val="800"/>
              </a:spcAft>
              <a:buNone/>
            </a:pP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Bütünlük (</a:t>
            </a:r>
            <a:r>
              <a:rPr lang="tr-TR" sz="1400" dirty="0" err="1">
                <a:solidFill>
                  <a:schemeClr val="bg1"/>
                </a:solidFill>
                <a:effectLst/>
                <a:latin typeface="Quicksand" pitchFamily="2" charset="-94"/>
                <a:ea typeface="Calibri" panose="020F0502020204030204" pitchFamily="34" charset="0"/>
                <a:cs typeface="Times New Roman" panose="02020603050405020304" pitchFamily="18" charset="0"/>
              </a:rPr>
              <a:t>Integrity</a:t>
            </a: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 Verilerin izinsiz değişikliklere uğramaması, verilerin korunmasıdır.</a:t>
            </a:r>
          </a:p>
          <a:p>
            <a:pPr marL="0" indent="0">
              <a:lnSpc>
                <a:spcPct val="150000"/>
              </a:lnSpc>
              <a:spcAft>
                <a:spcPts val="800"/>
              </a:spcAft>
              <a:buNone/>
            </a:pP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Erişilebilirlik (</a:t>
            </a:r>
            <a:r>
              <a:rPr lang="tr-TR" sz="1400" dirty="0" err="1">
                <a:solidFill>
                  <a:schemeClr val="bg1"/>
                </a:solidFill>
                <a:effectLst/>
                <a:latin typeface="Quicksand" pitchFamily="2" charset="-94"/>
                <a:ea typeface="Calibri" panose="020F0502020204030204" pitchFamily="34" charset="0"/>
                <a:cs typeface="Times New Roman" panose="02020603050405020304" pitchFamily="18" charset="0"/>
              </a:rPr>
              <a:t>Availability</a:t>
            </a: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 Verilere yetkisiz erişimi kısıtlamaktır.</a:t>
            </a:r>
          </a:p>
          <a:p>
            <a:pPr marL="0" indent="0">
              <a:lnSpc>
                <a:spcPct val="150000"/>
              </a:lnSpc>
              <a:spcAft>
                <a:spcPts val="800"/>
              </a:spcAft>
              <a:buNone/>
            </a:pP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Kimlik Doğrulama (</a:t>
            </a:r>
            <a:r>
              <a:rPr lang="tr-TR" sz="1400" dirty="0" err="1">
                <a:solidFill>
                  <a:schemeClr val="bg1"/>
                </a:solidFill>
                <a:effectLst/>
                <a:latin typeface="Quicksand" pitchFamily="2" charset="-94"/>
                <a:ea typeface="Calibri" panose="020F0502020204030204" pitchFamily="34" charset="0"/>
                <a:cs typeface="Times New Roman" panose="02020603050405020304" pitchFamily="18" charset="0"/>
              </a:rPr>
              <a:t>Authentication</a:t>
            </a: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 Kullanıcının, kimliğini kanıtlamasıdır.</a:t>
            </a:r>
          </a:p>
          <a:p>
            <a:pPr marL="0" indent="0">
              <a:lnSpc>
                <a:spcPct val="150000"/>
              </a:lnSpc>
              <a:spcAft>
                <a:spcPts val="800"/>
              </a:spcAft>
              <a:buNone/>
            </a:pP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Yetkilendirme (</a:t>
            </a:r>
            <a:r>
              <a:rPr lang="tr-TR" sz="1400" dirty="0" err="1">
                <a:solidFill>
                  <a:schemeClr val="bg1"/>
                </a:solidFill>
                <a:effectLst/>
                <a:latin typeface="Quicksand" pitchFamily="2" charset="-94"/>
                <a:ea typeface="Calibri" panose="020F0502020204030204" pitchFamily="34" charset="0"/>
                <a:cs typeface="Times New Roman" panose="02020603050405020304" pitchFamily="18" charset="0"/>
              </a:rPr>
              <a:t>Authorization</a:t>
            </a: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  Kullanıcının neye erişebileceğini ve ne tür işlemleri gerçekleştirebileceğini belirlenmesidir.</a:t>
            </a:r>
          </a:p>
          <a:p>
            <a:pPr marL="0" indent="0">
              <a:lnSpc>
                <a:spcPct val="150000"/>
              </a:lnSpc>
              <a:spcAft>
                <a:spcPts val="800"/>
              </a:spcAft>
              <a:buNone/>
            </a:pP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Denetim (</a:t>
            </a:r>
            <a:r>
              <a:rPr lang="tr-TR" sz="1400" dirty="0" err="1">
                <a:solidFill>
                  <a:schemeClr val="bg1"/>
                </a:solidFill>
                <a:effectLst/>
                <a:latin typeface="Quicksand" pitchFamily="2" charset="-94"/>
                <a:ea typeface="Calibri" panose="020F0502020204030204" pitchFamily="34" charset="0"/>
                <a:cs typeface="Times New Roman" panose="02020603050405020304" pitchFamily="18" charset="0"/>
              </a:rPr>
              <a:t>Accountability</a:t>
            </a:r>
            <a:r>
              <a:rPr lang="tr-TR" sz="1400" dirty="0">
                <a:solidFill>
                  <a:schemeClr val="bg1"/>
                </a:solidFill>
                <a:effectLst/>
                <a:latin typeface="Quicksand" pitchFamily="2" charset="-94"/>
                <a:ea typeface="Calibri" panose="020F0502020204030204" pitchFamily="34" charset="0"/>
                <a:cs typeface="Times New Roman" panose="02020603050405020304" pitchFamily="18" charset="0"/>
              </a:rPr>
              <a:t>): Sistemdeki hareketleri izleyip, analiz etmesidir.</a:t>
            </a:r>
          </a:p>
        </p:txBody>
      </p:sp>
    </p:spTree>
    <p:extLst>
      <p:ext uri="{BB962C8B-B14F-4D97-AF65-F5344CB8AC3E}">
        <p14:creationId xmlns:p14="http://schemas.microsoft.com/office/powerpoint/2010/main" val="397054613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cap="none" dirty="0">
                <a:solidFill>
                  <a:schemeClr val="bg1"/>
                </a:solidFill>
                <a:latin typeface="Quicksand" pitchFamily="2" charset="-94"/>
              </a:rPr>
              <a:t>Ağ Güvenliği Araçları</a:t>
            </a:r>
          </a:p>
        </p:txBody>
      </p:sp>
      <p:sp>
        <p:nvSpPr>
          <p:cNvPr id="3" name="İçerik Yer Tutucusu 2"/>
          <p:cNvSpPr>
            <a:spLocks noGrp="1"/>
          </p:cNvSpPr>
          <p:nvPr>
            <p:ph idx="1"/>
          </p:nvPr>
        </p:nvSpPr>
        <p:spPr/>
        <p:txBody>
          <a:bodyPr>
            <a:normAutofit/>
          </a:bodyPr>
          <a:lstStyle/>
          <a:p>
            <a:pPr marL="0" indent="0">
              <a:lnSpc>
                <a:spcPct val="150000"/>
              </a:lnSpc>
              <a:spcAft>
                <a:spcPts val="800"/>
              </a:spcAft>
              <a:buNone/>
            </a:pPr>
            <a:r>
              <a:rPr lang="tr-TR" sz="1600" dirty="0" err="1">
                <a:solidFill>
                  <a:schemeClr val="bg1"/>
                </a:solidFill>
                <a:effectLst/>
                <a:latin typeface="Quicksand" pitchFamily="2" charset="-94"/>
                <a:ea typeface="Calibri" panose="020F0502020204030204" pitchFamily="34" charset="0"/>
                <a:cs typeface="Times New Roman" panose="02020603050405020304" pitchFamily="18" charset="0"/>
              </a:rPr>
              <a:t>Antivirüs</a:t>
            </a: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 yazılımları, cihazlarınızı zararlı yazılımlardan korumak veya kurtarmak için tasarlanmıştır.</a:t>
            </a:r>
          </a:p>
          <a:p>
            <a:pPr marL="0" indent="0">
              <a:lnSpc>
                <a:spcPct val="150000"/>
              </a:lnSpc>
              <a:spcAft>
                <a:spcPts val="800"/>
              </a:spcAft>
              <a:buNone/>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Güvenlik duvarları, ağ trafiğini denetleyerek istenmeyen erişimleri engellemeye yardımcı olur.</a:t>
            </a:r>
          </a:p>
          <a:p>
            <a:pPr marL="0" indent="0">
              <a:lnSpc>
                <a:spcPct val="150000"/>
              </a:lnSpc>
              <a:spcAft>
                <a:spcPts val="800"/>
              </a:spcAft>
              <a:buNone/>
            </a:pPr>
            <a:r>
              <a:rPr lang="tr-TR" sz="1600" dirty="0" err="1">
                <a:solidFill>
                  <a:schemeClr val="bg1"/>
                </a:solidFill>
                <a:effectLst/>
                <a:latin typeface="Quicksand" pitchFamily="2" charset="-94"/>
                <a:ea typeface="Calibri" panose="020F0502020204030204" pitchFamily="34" charset="0"/>
                <a:cs typeface="Times New Roman" panose="02020603050405020304" pitchFamily="18" charset="0"/>
              </a:rPr>
              <a:t>Getaway</a:t>
            </a: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 güvenliği, dış ağlar ile iç ağların arasındaki iletişimde güvenirliliği sağlamasıdır.</a:t>
            </a:r>
          </a:p>
          <a:p>
            <a:pPr marL="0" indent="0">
              <a:lnSpc>
                <a:spcPct val="150000"/>
              </a:lnSpc>
              <a:spcAft>
                <a:spcPts val="800"/>
              </a:spcAft>
              <a:buNone/>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Şifreleme araçları, şifre </a:t>
            </a:r>
            <a:r>
              <a:rPr lang="tr-TR" sz="1600" dirty="0" err="1">
                <a:solidFill>
                  <a:schemeClr val="bg1"/>
                </a:solidFill>
                <a:effectLst/>
                <a:latin typeface="Quicksand" pitchFamily="2" charset="-94"/>
                <a:ea typeface="Calibri" panose="020F0502020204030204" pitchFamily="34" charset="0"/>
                <a:cs typeface="Times New Roman" panose="02020603050405020304" pitchFamily="18" charset="0"/>
              </a:rPr>
              <a:t>oluşturulardır</a:t>
            </a: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 Bir ağın güvenli olabilmesi için güçlü şifrelenmiş olması gerekmektedir.</a:t>
            </a:r>
          </a:p>
          <a:p>
            <a:pPr marL="0" indent="0">
              <a:lnSpc>
                <a:spcPct val="150000"/>
              </a:lnSpc>
              <a:spcAft>
                <a:spcPts val="800"/>
              </a:spcAft>
              <a:buNone/>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VPN, Verilerin şifrelenmiş şekilde iletilmesini sağlar.</a:t>
            </a:r>
          </a:p>
        </p:txBody>
      </p:sp>
    </p:spTree>
    <p:extLst>
      <p:ext uri="{BB962C8B-B14F-4D97-AF65-F5344CB8AC3E}">
        <p14:creationId xmlns:p14="http://schemas.microsoft.com/office/powerpoint/2010/main" val="327258988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ctrTitle"/>
          </p:nvPr>
        </p:nvSpPr>
        <p:spPr>
          <a:xfrm>
            <a:off x="1700213" y="2482456"/>
            <a:ext cx="8791575" cy="1893088"/>
          </a:xfrm>
        </p:spPr>
        <p:txBody>
          <a:bodyPr>
            <a:noAutofit/>
          </a:bodyPr>
          <a:lstStyle/>
          <a:p>
            <a:pPr>
              <a:lnSpc>
                <a:spcPct val="200000"/>
              </a:lnSpc>
            </a:pPr>
            <a:r>
              <a:rPr lang="tr-TR" sz="3600" cap="none" dirty="0">
                <a:solidFill>
                  <a:schemeClr val="bg1"/>
                </a:solidFill>
                <a:latin typeface="Quicksand" pitchFamily="2" charset="-94"/>
              </a:rPr>
              <a:t>Güvenlik Duvarları Ve Saldırı Tespit Sistemleri</a:t>
            </a:r>
          </a:p>
        </p:txBody>
      </p:sp>
    </p:spTree>
    <p:extLst>
      <p:ext uri="{BB962C8B-B14F-4D97-AF65-F5344CB8AC3E}">
        <p14:creationId xmlns:p14="http://schemas.microsoft.com/office/powerpoint/2010/main" val="144167783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13" y="618518"/>
            <a:ext cx="9905998" cy="720000"/>
          </a:xfrm>
        </p:spPr>
        <p:txBody>
          <a:bodyPr/>
          <a:lstStyle/>
          <a:p>
            <a:r>
              <a:rPr lang="tr-TR" cap="none" dirty="0">
                <a:solidFill>
                  <a:schemeClr val="bg1"/>
                </a:solidFill>
                <a:latin typeface="Quicksand" pitchFamily="2" charset="-94"/>
              </a:rPr>
              <a:t>Güvenlik Duvarı</a:t>
            </a:r>
          </a:p>
        </p:txBody>
      </p:sp>
      <p:sp>
        <p:nvSpPr>
          <p:cNvPr id="3" name="İçerik Yer Tutucusu 2"/>
          <p:cNvSpPr>
            <a:spLocks noGrp="1"/>
          </p:cNvSpPr>
          <p:nvPr>
            <p:ph idx="1"/>
          </p:nvPr>
        </p:nvSpPr>
        <p:spPr/>
        <p:txBody>
          <a:bodyPr>
            <a:normAutofit/>
          </a:bodyPr>
          <a:lstStyle/>
          <a:p>
            <a:pPr marL="0" indent="0">
              <a:lnSpc>
                <a:spcPct val="150000"/>
              </a:lnSpc>
              <a:spcAft>
                <a:spcPts val="800"/>
              </a:spcAft>
              <a:buNone/>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Temel amacı, yetkisiz erişimleri ve zararlı trafiği engellemektir. İç ve dış trafiği kontrol eder.</a:t>
            </a:r>
          </a:p>
          <a:p>
            <a:pPr marL="0" indent="0">
              <a:lnSpc>
                <a:spcPct val="200000"/>
              </a:lnSpc>
              <a:spcAft>
                <a:spcPts val="800"/>
              </a:spcAft>
              <a:buNone/>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İki ana türü bulunmaktadır: donanım tabanlı ve yazılım tabanlı güvenlik duvarıdır.</a:t>
            </a:r>
          </a:p>
          <a:p>
            <a:pPr marL="342900" lvl="0" indent="-342900">
              <a:lnSpc>
                <a:spcPct val="150000"/>
              </a:lnSpc>
              <a:spcAft>
                <a:spcPts val="0"/>
              </a:spcAft>
              <a:buFont typeface="+mj-lt"/>
              <a:buAutoNum type="arabicPeriod"/>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Donanım tabanlı güvenlik duvarları genellikle özel cihazlardır ve geniş ölçüde ağ trafiğini analiz edebilir. </a:t>
            </a:r>
          </a:p>
          <a:p>
            <a:pPr marL="342900" lvl="0" indent="-342900">
              <a:lnSpc>
                <a:spcPct val="150000"/>
              </a:lnSpc>
              <a:spcAft>
                <a:spcPts val="800"/>
              </a:spcAft>
              <a:buFont typeface="+mj-lt"/>
              <a:buAutoNum type="arabicPeriod"/>
            </a:pPr>
            <a:r>
              <a:rPr lang="tr-TR" sz="1600" dirty="0">
                <a:solidFill>
                  <a:schemeClr val="bg1"/>
                </a:solidFill>
                <a:effectLst/>
                <a:latin typeface="Quicksand" pitchFamily="2" charset="-94"/>
                <a:ea typeface="Calibri" panose="020F0502020204030204" pitchFamily="34" charset="0"/>
                <a:cs typeface="Times New Roman" panose="02020603050405020304" pitchFamily="18" charset="0"/>
              </a:rPr>
              <a:t>Yazılım tabanlı güvenlik duvarları ise genellikle işletim sistemleri üzerine kurulan yazılımlardır. Her ikisi de ağ trafiğini denetler, izin verilen trafiği geçirir ve tehlikeli trafiği engeller.</a:t>
            </a:r>
          </a:p>
        </p:txBody>
      </p:sp>
    </p:spTree>
    <p:extLst>
      <p:ext uri="{BB962C8B-B14F-4D97-AF65-F5344CB8AC3E}">
        <p14:creationId xmlns:p14="http://schemas.microsoft.com/office/powerpoint/2010/main" val="361577984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13" y="618518"/>
            <a:ext cx="9905998" cy="720000"/>
          </a:xfrm>
        </p:spPr>
        <p:txBody>
          <a:bodyPr>
            <a:normAutofit/>
          </a:bodyPr>
          <a:lstStyle/>
          <a:p>
            <a:pPr>
              <a:lnSpc>
                <a:spcPct val="107000"/>
              </a:lnSpc>
              <a:spcAft>
                <a:spcPts val="800"/>
              </a:spcAft>
            </a:pPr>
            <a:r>
              <a:rPr lang="tr-TR" cap="none" dirty="0">
                <a:solidFill>
                  <a:schemeClr val="bg1"/>
                </a:solidFill>
                <a:latin typeface="Quicksand" pitchFamily="2" charset="-94"/>
                <a:ea typeface="Calibri" panose="020F0502020204030204" pitchFamily="34" charset="0"/>
                <a:cs typeface="Times New Roman" panose="02020603050405020304" pitchFamily="18" charset="0"/>
              </a:rPr>
              <a:t>Ağ Saldırılarının Tespiti Ve Önleme Sistemi</a:t>
            </a:r>
            <a:endParaRPr lang="tr-TR" cap="none" dirty="0">
              <a:solidFill>
                <a:schemeClr val="bg1"/>
              </a:solidFill>
            </a:endParaRPr>
          </a:p>
        </p:txBody>
      </p:sp>
      <p:sp>
        <p:nvSpPr>
          <p:cNvPr id="3" name="İçerik Yer Tutucusu 2"/>
          <p:cNvSpPr>
            <a:spLocks noGrp="1"/>
          </p:cNvSpPr>
          <p:nvPr>
            <p:ph idx="1"/>
          </p:nvPr>
        </p:nvSpPr>
        <p:spPr>
          <a:xfrm>
            <a:off x="1141412" y="1385421"/>
            <a:ext cx="9905999" cy="3541714"/>
          </a:xfrm>
        </p:spPr>
        <p:txBody>
          <a:bodyPr>
            <a:noAutofit/>
          </a:bodyPr>
          <a:lstStyle/>
          <a:p>
            <a:pPr marL="0" indent="0">
              <a:lnSpc>
                <a:spcPct val="200000"/>
              </a:lnSpc>
              <a:spcAft>
                <a:spcPts val="800"/>
              </a:spcAft>
              <a:buNone/>
            </a:pPr>
            <a:r>
              <a:rPr lang="tr-TR" sz="1400" dirty="0">
                <a:solidFill>
                  <a:schemeClr val="bg1"/>
                </a:solidFill>
                <a:latin typeface="Quicksand" pitchFamily="2" charset="-94"/>
                <a:ea typeface="Calibri" panose="020F0502020204030204" pitchFamily="34" charset="0"/>
                <a:cs typeface="Times New Roman" panose="02020603050405020304" pitchFamily="18" charset="0"/>
              </a:rPr>
              <a:t>IDS, "</a:t>
            </a:r>
            <a:r>
              <a:rPr lang="tr-TR" sz="1400" dirty="0" err="1">
                <a:solidFill>
                  <a:schemeClr val="bg1"/>
                </a:solidFill>
                <a:latin typeface="Quicksand" pitchFamily="2" charset="-94"/>
                <a:ea typeface="Calibri" panose="020F0502020204030204" pitchFamily="34" charset="0"/>
                <a:cs typeface="Times New Roman" panose="02020603050405020304" pitchFamily="18" charset="0"/>
              </a:rPr>
              <a:t>Intrusion</a:t>
            </a:r>
            <a:r>
              <a:rPr lang="tr-TR" sz="14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400" dirty="0" err="1">
                <a:solidFill>
                  <a:schemeClr val="bg1"/>
                </a:solidFill>
                <a:latin typeface="Quicksand" pitchFamily="2" charset="-94"/>
                <a:ea typeface="Calibri" panose="020F0502020204030204" pitchFamily="34" charset="0"/>
                <a:cs typeface="Times New Roman" panose="02020603050405020304" pitchFamily="18" charset="0"/>
              </a:rPr>
              <a:t>Detection</a:t>
            </a:r>
            <a:r>
              <a:rPr lang="tr-TR" sz="14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400" dirty="0" err="1">
                <a:solidFill>
                  <a:schemeClr val="bg1"/>
                </a:solidFill>
                <a:latin typeface="Quicksand" pitchFamily="2" charset="-94"/>
                <a:ea typeface="Calibri" panose="020F0502020204030204" pitchFamily="34" charset="0"/>
                <a:cs typeface="Times New Roman" panose="02020603050405020304" pitchFamily="18" charset="0"/>
              </a:rPr>
              <a:t>System"ın</a:t>
            </a:r>
            <a:r>
              <a:rPr lang="tr-TR" sz="1400" dirty="0">
                <a:solidFill>
                  <a:schemeClr val="bg1"/>
                </a:solidFill>
                <a:latin typeface="Quicksand" pitchFamily="2" charset="-94"/>
                <a:ea typeface="Calibri" panose="020F0502020204030204" pitchFamily="34" charset="0"/>
                <a:cs typeface="Times New Roman" panose="02020603050405020304" pitchFamily="18" charset="0"/>
              </a:rPr>
              <a:t> kısaltmasıdır. </a:t>
            </a:r>
            <a:r>
              <a:rPr lang="tr-TR" sz="1400" dirty="0" err="1">
                <a:solidFill>
                  <a:schemeClr val="bg1"/>
                </a:solidFill>
                <a:latin typeface="Quicksand" pitchFamily="2" charset="-94"/>
                <a:ea typeface="Calibri" panose="020F0502020204030204" pitchFamily="34" charset="0"/>
                <a:cs typeface="Times New Roman" panose="02020603050405020304" pitchFamily="18" charset="0"/>
              </a:rPr>
              <a:t>Türkçe'de</a:t>
            </a:r>
            <a:r>
              <a:rPr lang="tr-TR" sz="1400" dirty="0">
                <a:solidFill>
                  <a:schemeClr val="bg1"/>
                </a:solidFill>
                <a:latin typeface="Quicksand" pitchFamily="2" charset="-94"/>
                <a:ea typeface="Calibri" panose="020F0502020204030204" pitchFamily="34" charset="0"/>
                <a:cs typeface="Times New Roman" panose="02020603050405020304" pitchFamily="18" charset="0"/>
              </a:rPr>
              <a:t> "Sızma Tespit Sistemi" olarak da bilinir. IDS, bir bilgisayar ağı veya sistemdeki potansiyel güvenlik ihlallerini tespit etmek ve raporlamak için tasarlanmış bir güvenlik teknolojisidir.</a:t>
            </a:r>
          </a:p>
          <a:p>
            <a:pPr marL="0" indent="0">
              <a:lnSpc>
                <a:spcPct val="200000"/>
              </a:lnSpc>
              <a:spcAft>
                <a:spcPts val="800"/>
              </a:spcAft>
              <a:buNone/>
            </a:pPr>
            <a:r>
              <a:rPr lang="tr-TR" sz="1400" dirty="0">
                <a:solidFill>
                  <a:schemeClr val="bg1"/>
                </a:solidFill>
                <a:latin typeface="Quicksand" pitchFamily="2" charset="-94"/>
                <a:ea typeface="Calibri" panose="020F0502020204030204" pitchFamily="34" charset="0"/>
                <a:cs typeface="Times New Roman" panose="02020603050405020304" pitchFamily="18" charset="0"/>
              </a:rPr>
              <a:t>IDS, ağ trafiğini veya sistem aktivitesini izleyerek, belirli önceden tanımlanmış tehlikeli desenleri veya davranışları tespit etmeye çalışır. Bu desenler, kötü niyetli yazılımların veya saldırı girişimlerinin izlerini taşıyabilir. </a:t>
            </a:r>
            <a:r>
              <a:rPr lang="tr-TR" sz="1400" dirty="0" err="1">
                <a:solidFill>
                  <a:schemeClr val="bg1"/>
                </a:solidFill>
                <a:latin typeface="Quicksand" pitchFamily="2" charset="-94"/>
                <a:ea typeface="Calibri" panose="020F0502020204030204" pitchFamily="34" charset="0"/>
                <a:cs typeface="Times New Roman" panose="02020603050405020304" pitchFamily="18" charset="0"/>
              </a:rPr>
              <a:t>IDS'nin</a:t>
            </a:r>
            <a:r>
              <a:rPr lang="tr-TR" sz="1400" dirty="0">
                <a:solidFill>
                  <a:schemeClr val="bg1"/>
                </a:solidFill>
                <a:latin typeface="Quicksand" pitchFamily="2" charset="-94"/>
                <a:ea typeface="Calibri" panose="020F0502020204030204" pitchFamily="34" charset="0"/>
                <a:cs typeface="Times New Roman" panose="02020603050405020304" pitchFamily="18" charset="0"/>
              </a:rPr>
              <a:t> temel amacı, bilgisayar ağı veya sistemdeki güvenlik durumunu izleyerek güvenlik olaylarını tespit etmek ve bu olaylara karşı uyarı veya tepki vermektedir.</a:t>
            </a:r>
            <a:endParaRPr lang="tr-TR" sz="1400" dirty="0">
              <a:solidFill>
                <a:schemeClr val="bg1"/>
              </a:solidFill>
              <a:effectLst/>
              <a:latin typeface="Quicksand" pitchFamily="2" charset="-94"/>
              <a:ea typeface="Calibri" panose="020F0502020204030204" pitchFamily="34" charset="0"/>
              <a:cs typeface="Times New Roman" panose="02020603050405020304" pitchFamily="18" charset="0"/>
            </a:endParaRPr>
          </a:p>
          <a:p>
            <a:pPr marL="0" indent="0">
              <a:lnSpc>
                <a:spcPct val="200000"/>
              </a:lnSpc>
              <a:spcAft>
                <a:spcPts val="800"/>
              </a:spcAft>
              <a:buNone/>
            </a:pPr>
            <a:r>
              <a:rPr lang="tr-TR" sz="1400" dirty="0">
                <a:solidFill>
                  <a:schemeClr val="bg1"/>
                </a:solidFill>
                <a:latin typeface="Quicksand" pitchFamily="2" charset="-94"/>
                <a:ea typeface="Calibri" panose="020F0502020204030204" pitchFamily="34" charset="0"/>
                <a:cs typeface="Times New Roman" panose="02020603050405020304" pitchFamily="18" charset="0"/>
              </a:rPr>
              <a:t>IDS, güvenlik uzmanlarına veya sistem yöneticilerine potansiyel tehditlere karşı uyarılar verir ve böylece güvenlik önlemlerini güçlendirmelerine yardımcı olur. </a:t>
            </a:r>
            <a:r>
              <a:rPr lang="tr-TR" sz="1400" dirty="0" err="1">
                <a:solidFill>
                  <a:schemeClr val="bg1"/>
                </a:solidFill>
                <a:latin typeface="Quicksand" pitchFamily="2" charset="-94"/>
                <a:ea typeface="Calibri" panose="020F0502020204030204" pitchFamily="34" charset="0"/>
                <a:cs typeface="Times New Roman" panose="02020603050405020304" pitchFamily="18" charset="0"/>
              </a:rPr>
              <a:t>IDS'nin</a:t>
            </a:r>
            <a:r>
              <a:rPr lang="tr-TR" sz="1400" dirty="0">
                <a:solidFill>
                  <a:schemeClr val="bg1"/>
                </a:solidFill>
                <a:latin typeface="Quicksand" pitchFamily="2" charset="-94"/>
                <a:ea typeface="Calibri" panose="020F0502020204030204" pitchFamily="34" charset="0"/>
                <a:cs typeface="Times New Roman" panose="02020603050405020304" pitchFamily="18" charset="0"/>
              </a:rPr>
              <a:t> bir diğer önemli yönü, güvenlik olayları hakkında kayıtları tutarak, olası saldırıları inceleme ve anlama yeteneği sağlamasıdır.</a:t>
            </a:r>
            <a:endParaRPr lang="tr-TR" sz="1400" dirty="0">
              <a:solidFill>
                <a:schemeClr val="bg1"/>
              </a:solidFill>
              <a:effectLst/>
              <a:latin typeface="Quicksand" pitchFamily="2" charset="-94"/>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585143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13" y="618518"/>
            <a:ext cx="9905998" cy="720000"/>
          </a:xfrm>
        </p:spPr>
        <p:txBody>
          <a:bodyPr>
            <a:normAutofit/>
          </a:bodyPr>
          <a:lstStyle/>
          <a:p>
            <a:pPr>
              <a:lnSpc>
                <a:spcPct val="107000"/>
              </a:lnSpc>
              <a:spcAft>
                <a:spcPts val="800"/>
              </a:spcAft>
            </a:pPr>
            <a:r>
              <a:rPr lang="tr-TR" sz="3200" cap="none" dirty="0">
                <a:solidFill>
                  <a:schemeClr val="bg1"/>
                </a:solidFill>
                <a:latin typeface="Quicksand" pitchFamily="2" charset="-94"/>
                <a:ea typeface="Calibri" panose="020F0502020204030204" pitchFamily="34" charset="0"/>
                <a:cs typeface="Times New Roman" panose="02020603050405020304" pitchFamily="18" charset="0"/>
              </a:rPr>
              <a:t>Ağ Saldırılarının Tespiti Ve Önleme Sistemi</a:t>
            </a:r>
            <a:endParaRPr lang="tr-TR" sz="3200" cap="none" dirty="0">
              <a:solidFill>
                <a:schemeClr val="bg1"/>
              </a:solidFill>
            </a:endParaRPr>
          </a:p>
        </p:txBody>
      </p:sp>
      <p:sp>
        <p:nvSpPr>
          <p:cNvPr id="3" name="İçerik Yer Tutucusu 2"/>
          <p:cNvSpPr>
            <a:spLocks noGrp="1"/>
          </p:cNvSpPr>
          <p:nvPr>
            <p:ph idx="1"/>
          </p:nvPr>
        </p:nvSpPr>
        <p:spPr/>
        <p:txBody>
          <a:bodyPr>
            <a:normAutofit/>
          </a:bodyPr>
          <a:lstStyle/>
          <a:p>
            <a:pPr marL="0" indent="0">
              <a:lnSpc>
                <a:spcPct val="200000"/>
              </a:lnSpc>
              <a:spcAft>
                <a:spcPts val="800"/>
              </a:spcAft>
              <a:buNone/>
            </a:pPr>
            <a:r>
              <a:rPr lang="tr-TR" sz="1600" dirty="0">
                <a:solidFill>
                  <a:schemeClr val="bg1"/>
                </a:solidFill>
                <a:latin typeface="Quicksand" pitchFamily="2" charset="-94"/>
                <a:ea typeface="Calibri" panose="020F0502020204030204" pitchFamily="34" charset="0"/>
                <a:cs typeface="Times New Roman" panose="02020603050405020304" pitchFamily="18" charset="0"/>
              </a:rPr>
              <a:t>IDS, genellikle iki ana türde gelir: </a:t>
            </a:r>
            <a:endParaRPr lang="tr-TR" sz="1600" dirty="0">
              <a:solidFill>
                <a:schemeClr val="bg1"/>
              </a:solidFill>
              <a:effectLst/>
              <a:latin typeface="Quicksand" pitchFamily="2" charset="-94"/>
              <a:ea typeface="Calibri" panose="020F0502020204030204" pitchFamily="34" charset="0"/>
              <a:cs typeface="Times New Roman" panose="02020603050405020304" pitchFamily="18" charset="0"/>
            </a:endParaRPr>
          </a:p>
          <a:p>
            <a:pPr marL="342900" indent="-342900">
              <a:lnSpc>
                <a:spcPct val="150000"/>
              </a:lnSpc>
              <a:spcAft>
                <a:spcPts val="800"/>
              </a:spcAft>
              <a:buFont typeface="+mj-lt"/>
              <a:buAutoNum type="arabicPeriod"/>
            </a:pPr>
            <a:r>
              <a:rPr lang="tr-TR" sz="1600" dirty="0">
                <a:solidFill>
                  <a:schemeClr val="bg1"/>
                </a:solidFill>
                <a:latin typeface="Quicksand" pitchFamily="2" charset="-94"/>
                <a:ea typeface="Calibri" panose="020F0502020204030204" pitchFamily="34" charset="0"/>
                <a:cs typeface="Times New Roman" panose="02020603050405020304" pitchFamily="18" charset="0"/>
              </a:rPr>
              <a:t>Network-</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based</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Intrusion</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Detection</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System</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(NIDS): Ağ trafiğini izler ve ağ üzerinden geçen verileri analiz eder. Potansiyel saldırıları veya güvenlik ihlallerini tespit eder.</a:t>
            </a:r>
            <a:endParaRPr lang="tr-TR" sz="1600" dirty="0">
              <a:solidFill>
                <a:schemeClr val="bg1"/>
              </a:solidFill>
              <a:effectLst/>
              <a:latin typeface="Quicksand" pitchFamily="2" charset="-94"/>
              <a:ea typeface="Calibri" panose="020F0502020204030204" pitchFamily="34" charset="0"/>
              <a:cs typeface="Times New Roman" panose="02020603050405020304" pitchFamily="18" charset="0"/>
            </a:endParaRPr>
          </a:p>
          <a:p>
            <a:pPr marL="342900" indent="-342900">
              <a:lnSpc>
                <a:spcPct val="150000"/>
              </a:lnSpc>
              <a:spcAft>
                <a:spcPts val="800"/>
              </a:spcAft>
              <a:buFont typeface="+mj-lt"/>
              <a:buAutoNum type="arabicPeriod"/>
            </a:pPr>
            <a:r>
              <a:rPr lang="tr-TR" sz="1600" dirty="0">
                <a:solidFill>
                  <a:schemeClr val="bg1"/>
                </a:solidFill>
                <a:latin typeface="Quicksand" pitchFamily="2" charset="-94"/>
                <a:ea typeface="Calibri" panose="020F0502020204030204" pitchFamily="34" charset="0"/>
                <a:cs typeface="Times New Roman" panose="02020603050405020304" pitchFamily="18" charset="0"/>
              </a:rPr>
              <a:t>Host-</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based</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Intrusion</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Detection</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System</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(HIDS): Bireysel bilgisayar sistemlerini izler. Bu sistemlerdeki </a:t>
            </a:r>
            <a:r>
              <a:rPr lang="tr-TR" sz="1600" dirty="0" err="1">
                <a:solidFill>
                  <a:schemeClr val="bg1"/>
                </a:solidFill>
                <a:latin typeface="Quicksand" pitchFamily="2" charset="-94"/>
                <a:ea typeface="Calibri" panose="020F0502020204030204" pitchFamily="34" charset="0"/>
                <a:cs typeface="Times New Roman" panose="02020603050405020304" pitchFamily="18" charset="0"/>
              </a:rPr>
              <a:t>log</a:t>
            </a:r>
            <a:r>
              <a:rPr lang="tr-TR" sz="1600" dirty="0">
                <a:solidFill>
                  <a:schemeClr val="bg1"/>
                </a:solidFill>
                <a:latin typeface="Quicksand" pitchFamily="2" charset="-94"/>
                <a:ea typeface="Calibri" panose="020F0502020204030204" pitchFamily="34" charset="0"/>
                <a:cs typeface="Times New Roman" panose="02020603050405020304" pitchFamily="18" charset="0"/>
              </a:rPr>
              <a:t> dosyalarını ve sistem aktivitelerini analiz eder, anormal veya potansiyel olarak zararlı aktiviteleri belirlemeye çalışır.</a:t>
            </a:r>
            <a:endParaRPr lang="tr-TR" sz="1600" dirty="0">
              <a:solidFill>
                <a:schemeClr val="bg1"/>
              </a:solidFill>
              <a:effectLst/>
              <a:latin typeface="Quicksand" pitchFamily="2" charset="-94"/>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585143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1141413" y="618518"/>
            <a:ext cx="9905998" cy="720000"/>
          </a:xfrm>
        </p:spPr>
        <p:txBody>
          <a:bodyPr/>
          <a:lstStyle/>
          <a:p>
            <a:r>
              <a:rPr lang="tr-TR" cap="none" dirty="0">
                <a:solidFill>
                  <a:schemeClr val="bg1"/>
                </a:solidFill>
                <a:latin typeface="Quicksand" pitchFamily="2" charset="-94"/>
              </a:rPr>
              <a:t>Kablosuz Ağ Güvenliği</a:t>
            </a:r>
          </a:p>
        </p:txBody>
      </p:sp>
      <p:sp>
        <p:nvSpPr>
          <p:cNvPr id="7" name="Alt Başlık 6"/>
          <p:cNvSpPr>
            <a:spLocks noGrp="1"/>
          </p:cNvSpPr>
          <p:nvPr>
            <p:ph idx="1"/>
          </p:nvPr>
        </p:nvSpPr>
        <p:spPr/>
        <p:txBody>
          <a:bodyPr>
            <a:normAutofit/>
          </a:bodyPr>
          <a:lstStyle/>
          <a:p>
            <a:pPr marL="0" indent="0">
              <a:lnSpc>
                <a:spcPct val="200000"/>
              </a:lnSpc>
              <a:buNone/>
            </a:pPr>
            <a:r>
              <a:rPr lang="tr-TR" sz="1600" dirty="0">
                <a:solidFill>
                  <a:schemeClr val="bg1"/>
                </a:solidFill>
                <a:latin typeface="Quicksand" pitchFamily="2" charset="-94"/>
              </a:rPr>
              <a:t>Kablosuz ağ güvenliği, günümüzde önemli bir konudur çünkü birçok kişi ve kuruluş, kablosuz ağlarından çeşitli cihazlara bağlanmaktadır. Bu nedenle, bu ağların güvenliği büyük önem taşır.</a:t>
            </a:r>
          </a:p>
        </p:txBody>
      </p:sp>
    </p:spTree>
    <p:extLst>
      <p:ext uri="{BB962C8B-B14F-4D97-AF65-F5344CB8AC3E}">
        <p14:creationId xmlns:p14="http://schemas.microsoft.com/office/powerpoint/2010/main" val="158567126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13" y="618518"/>
            <a:ext cx="9905998" cy="720000"/>
          </a:xfrm>
        </p:spPr>
        <p:txBody>
          <a:bodyPr/>
          <a:lstStyle/>
          <a:p>
            <a:r>
              <a:rPr lang="tr-TR" cap="none" dirty="0">
                <a:solidFill>
                  <a:schemeClr val="bg1"/>
                </a:solidFill>
                <a:latin typeface="Quicksand" pitchFamily="2" charset="-94"/>
              </a:rPr>
              <a:t>WPA Ve WPA2 Protokolleri</a:t>
            </a:r>
          </a:p>
        </p:txBody>
      </p:sp>
      <p:sp>
        <p:nvSpPr>
          <p:cNvPr id="3" name="İçerik Yer Tutucusu 2"/>
          <p:cNvSpPr>
            <a:spLocks noGrp="1"/>
          </p:cNvSpPr>
          <p:nvPr>
            <p:ph idx="1"/>
          </p:nvPr>
        </p:nvSpPr>
        <p:spPr/>
        <p:txBody>
          <a:bodyPr>
            <a:noAutofit/>
          </a:bodyPr>
          <a:lstStyle/>
          <a:p>
            <a:pPr marL="0" indent="0">
              <a:lnSpc>
                <a:spcPct val="220000"/>
              </a:lnSpc>
              <a:buNone/>
            </a:pPr>
            <a:r>
              <a:rPr lang="tr-TR" sz="1300" dirty="0">
                <a:solidFill>
                  <a:schemeClr val="bg1"/>
                </a:solidFill>
                <a:latin typeface="Quicksand" pitchFamily="2" charset="-94"/>
              </a:rPr>
              <a:t>WPA (</a:t>
            </a:r>
            <a:r>
              <a:rPr lang="tr-TR" sz="1300" dirty="0" err="1">
                <a:solidFill>
                  <a:schemeClr val="bg1"/>
                </a:solidFill>
                <a:latin typeface="Quicksand" pitchFamily="2" charset="-94"/>
              </a:rPr>
              <a:t>Wi</a:t>
            </a:r>
            <a:r>
              <a:rPr lang="tr-TR" sz="1300" dirty="0">
                <a:solidFill>
                  <a:schemeClr val="bg1"/>
                </a:solidFill>
                <a:latin typeface="Quicksand" pitchFamily="2" charset="-94"/>
              </a:rPr>
              <a:t>-Fi </a:t>
            </a:r>
            <a:r>
              <a:rPr lang="tr-TR" sz="1300" dirty="0" err="1">
                <a:solidFill>
                  <a:schemeClr val="bg1"/>
                </a:solidFill>
                <a:latin typeface="Quicksand" pitchFamily="2" charset="-94"/>
              </a:rPr>
              <a:t>Protected</a:t>
            </a:r>
            <a:r>
              <a:rPr lang="tr-TR" sz="1300" dirty="0">
                <a:solidFill>
                  <a:schemeClr val="bg1"/>
                </a:solidFill>
                <a:latin typeface="Quicksand" pitchFamily="2" charset="-94"/>
              </a:rPr>
              <a:t> Access – </a:t>
            </a:r>
            <a:r>
              <a:rPr lang="tr-TR" sz="1300" dirty="0" err="1">
                <a:solidFill>
                  <a:schemeClr val="bg1"/>
                </a:solidFill>
                <a:latin typeface="Quicksand" pitchFamily="2" charset="-94"/>
              </a:rPr>
              <a:t>Wifi</a:t>
            </a:r>
            <a:r>
              <a:rPr lang="tr-TR" sz="1300" dirty="0">
                <a:solidFill>
                  <a:schemeClr val="bg1"/>
                </a:solidFill>
                <a:latin typeface="Quicksand" pitchFamily="2" charset="-94"/>
              </a:rPr>
              <a:t> Korumalı Erişim): WPA, WEP (</a:t>
            </a:r>
            <a:r>
              <a:rPr lang="tr-TR" sz="1300" dirty="0" err="1">
                <a:solidFill>
                  <a:schemeClr val="bg1"/>
                </a:solidFill>
                <a:latin typeface="Quicksand" pitchFamily="2" charset="-94"/>
              </a:rPr>
              <a:t>Wired</a:t>
            </a:r>
            <a:r>
              <a:rPr lang="tr-TR" sz="1300" dirty="0">
                <a:solidFill>
                  <a:schemeClr val="bg1"/>
                </a:solidFill>
                <a:latin typeface="Quicksand" pitchFamily="2" charset="-94"/>
              </a:rPr>
              <a:t> </a:t>
            </a:r>
            <a:r>
              <a:rPr lang="tr-TR" sz="1300" dirty="0" err="1">
                <a:solidFill>
                  <a:schemeClr val="bg1"/>
                </a:solidFill>
                <a:latin typeface="Quicksand" pitchFamily="2" charset="-94"/>
              </a:rPr>
              <a:t>Equivalent</a:t>
            </a:r>
            <a:r>
              <a:rPr lang="tr-TR" sz="1300" dirty="0">
                <a:solidFill>
                  <a:schemeClr val="bg1"/>
                </a:solidFill>
                <a:latin typeface="Quicksand" pitchFamily="2" charset="-94"/>
              </a:rPr>
              <a:t> </a:t>
            </a:r>
            <a:r>
              <a:rPr lang="tr-TR" sz="1300" dirty="0" err="1">
                <a:solidFill>
                  <a:schemeClr val="bg1"/>
                </a:solidFill>
                <a:latin typeface="Quicksand" pitchFamily="2" charset="-94"/>
              </a:rPr>
              <a:t>Privacy</a:t>
            </a:r>
            <a:r>
              <a:rPr lang="tr-TR" sz="1300" dirty="0">
                <a:solidFill>
                  <a:schemeClr val="bg1"/>
                </a:solidFill>
                <a:latin typeface="Quicksand" pitchFamily="2" charset="-94"/>
              </a:rPr>
              <a:t> – Kablolu Bağlantıyla eş değer </a:t>
            </a:r>
            <a:r>
              <a:rPr lang="tr-TR" sz="1300" dirty="0" err="1">
                <a:solidFill>
                  <a:schemeClr val="bg1"/>
                </a:solidFill>
                <a:latin typeface="Quicksand" pitchFamily="2" charset="-94"/>
              </a:rPr>
              <a:t>Prokolü</a:t>
            </a:r>
            <a:r>
              <a:rPr lang="tr-TR" sz="1300" dirty="0">
                <a:solidFill>
                  <a:schemeClr val="bg1"/>
                </a:solidFill>
                <a:latin typeface="Quicksand" pitchFamily="2" charset="-94"/>
              </a:rPr>
              <a:t>) protokolünün güvenlik zafiyetlerini gidermek amacıyla geliştirilmiştir. Ancak, </a:t>
            </a:r>
            <a:r>
              <a:rPr lang="tr-TR" sz="1300" dirty="0" err="1">
                <a:solidFill>
                  <a:schemeClr val="bg1"/>
                </a:solidFill>
                <a:latin typeface="Quicksand" pitchFamily="2" charset="-94"/>
              </a:rPr>
              <a:t>WPA'nın</a:t>
            </a:r>
            <a:r>
              <a:rPr lang="tr-TR" sz="1300" dirty="0">
                <a:solidFill>
                  <a:schemeClr val="bg1"/>
                </a:solidFill>
                <a:latin typeface="Quicksand" pitchFamily="2" charset="-94"/>
              </a:rPr>
              <a:t> da bazı zayıflıkları vardır. WPA, TKIP (</a:t>
            </a:r>
            <a:r>
              <a:rPr lang="tr-TR" sz="1300" dirty="0" err="1">
                <a:solidFill>
                  <a:schemeClr val="bg1"/>
                </a:solidFill>
                <a:latin typeface="Quicksand" pitchFamily="2" charset="-94"/>
              </a:rPr>
              <a:t>Temporal</a:t>
            </a:r>
            <a:r>
              <a:rPr lang="tr-TR" sz="1300" dirty="0">
                <a:solidFill>
                  <a:schemeClr val="bg1"/>
                </a:solidFill>
                <a:latin typeface="Quicksand" pitchFamily="2" charset="-94"/>
              </a:rPr>
              <a:t> </a:t>
            </a:r>
            <a:r>
              <a:rPr lang="tr-TR" sz="1300" dirty="0" err="1">
                <a:solidFill>
                  <a:schemeClr val="bg1"/>
                </a:solidFill>
                <a:latin typeface="Quicksand" pitchFamily="2" charset="-94"/>
              </a:rPr>
              <a:t>Key</a:t>
            </a:r>
            <a:r>
              <a:rPr lang="tr-TR" sz="1300" dirty="0">
                <a:solidFill>
                  <a:schemeClr val="bg1"/>
                </a:solidFill>
                <a:latin typeface="Quicksand" pitchFamily="2" charset="-94"/>
              </a:rPr>
              <a:t> </a:t>
            </a:r>
            <a:r>
              <a:rPr lang="tr-TR" sz="1300" dirty="0" err="1">
                <a:solidFill>
                  <a:schemeClr val="bg1"/>
                </a:solidFill>
                <a:latin typeface="Quicksand" pitchFamily="2" charset="-94"/>
              </a:rPr>
              <a:t>Integrity</a:t>
            </a:r>
            <a:r>
              <a:rPr lang="tr-TR" sz="1300" dirty="0">
                <a:solidFill>
                  <a:schemeClr val="bg1"/>
                </a:solidFill>
                <a:latin typeface="Quicksand" pitchFamily="2" charset="-94"/>
              </a:rPr>
              <a:t> Protocol) kullanır ve bu da bazı saldırılara karşı savunmasız olabilir.</a:t>
            </a:r>
          </a:p>
          <a:p>
            <a:pPr marL="0" indent="0">
              <a:lnSpc>
                <a:spcPct val="220000"/>
              </a:lnSpc>
              <a:buNone/>
            </a:pPr>
            <a:r>
              <a:rPr lang="tr-TR" sz="1300" dirty="0">
                <a:solidFill>
                  <a:schemeClr val="bg1"/>
                </a:solidFill>
                <a:latin typeface="Quicksand" pitchFamily="2" charset="-94"/>
              </a:rPr>
              <a:t>WPA2: WPA2, </a:t>
            </a:r>
            <a:r>
              <a:rPr lang="tr-TR" sz="1300" dirty="0" err="1">
                <a:solidFill>
                  <a:schemeClr val="bg1"/>
                </a:solidFill>
                <a:latin typeface="Quicksand" pitchFamily="2" charset="-94"/>
              </a:rPr>
              <a:t>WPA'nın</a:t>
            </a:r>
            <a:r>
              <a:rPr lang="tr-TR" sz="1300" dirty="0">
                <a:solidFill>
                  <a:schemeClr val="bg1"/>
                </a:solidFill>
                <a:latin typeface="Quicksand" pitchFamily="2" charset="-94"/>
              </a:rPr>
              <a:t> zayıflıklarını gidermek için geliştirilmiş bir protokoldür. AES (Advanced </a:t>
            </a:r>
            <a:r>
              <a:rPr lang="tr-TR" sz="1300" dirty="0" err="1">
                <a:solidFill>
                  <a:schemeClr val="bg1"/>
                </a:solidFill>
                <a:latin typeface="Quicksand" pitchFamily="2" charset="-94"/>
              </a:rPr>
              <a:t>Encryption</a:t>
            </a:r>
            <a:r>
              <a:rPr lang="tr-TR" sz="1300" dirty="0">
                <a:solidFill>
                  <a:schemeClr val="bg1"/>
                </a:solidFill>
                <a:latin typeface="Quicksand" pitchFamily="2" charset="-94"/>
              </a:rPr>
              <a:t> Standard) şifreleme algoritması kullanır, bu da daha güvenli bir kablosuz iletişim sağlar. Ancak, bazı saldırı türlerine karşı dikkatli olunmalıdır.</a:t>
            </a:r>
          </a:p>
          <a:p>
            <a:pPr marL="0" indent="0">
              <a:lnSpc>
                <a:spcPct val="220000"/>
              </a:lnSpc>
              <a:buNone/>
            </a:pPr>
            <a:r>
              <a:rPr lang="tr-TR" sz="1300" dirty="0">
                <a:solidFill>
                  <a:schemeClr val="bg1"/>
                </a:solidFill>
                <a:latin typeface="Quicksand" pitchFamily="2" charset="-94"/>
              </a:rPr>
              <a:t>Her iki protokol de, güçlü ve karmaşık şifreleme anahtarları kullanarak ağ trafiğini korur. Ancak, zamanla şifreleme algoritmalarındaki zayıflıklar ve saldırılar nedeniyle güvenlik standartları güncellenmelidir.</a:t>
            </a:r>
          </a:p>
        </p:txBody>
      </p:sp>
    </p:spTree>
    <p:extLst>
      <p:ext uri="{BB962C8B-B14F-4D97-AF65-F5344CB8AC3E}">
        <p14:creationId xmlns:p14="http://schemas.microsoft.com/office/powerpoint/2010/main" val="20809034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65125"/>
            <a:ext cx="10515600" cy="720000"/>
          </a:xfrm>
        </p:spPr>
        <p:txBody>
          <a:bodyPr>
            <a:noAutofit/>
          </a:bodyPr>
          <a:lstStyle/>
          <a:p>
            <a:r>
              <a:rPr lang="tr-TR" cap="none" dirty="0">
                <a:solidFill>
                  <a:schemeClr val="bg1"/>
                </a:solidFill>
                <a:latin typeface="Quicksand" pitchFamily="2" charset="-94"/>
              </a:rPr>
              <a:t>Kablosuz Ağlarda Şifreleme</a:t>
            </a:r>
          </a:p>
        </p:txBody>
      </p:sp>
      <p:sp>
        <p:nvSpPr>
          <p:cNvPr id="3" name="İçerik Yer Tutucusu 2"/>
          <p:cNvSpPr>
            <a:spLocks noGrp="1"/>
          </p:cNvSpPr>
          <p:nvPr>
            <p:ph idx="1"/>
          </p:nvPr>
        </p:nvSpPr>
        <p:spPr/>
        <p:txBody>
          <a:bodyPr>
            <a:normAutofit fontScale="85000" lnSpcReduction="10000"/>
          </a:bodyPr>
          <a:lstStyle/>
          <a:p>
            <a:pPr marL="0" indent="0">
              <a:lnSpc>
                <a:spcPct val="210000"/>
              </a:lnSpc>
              <a:buNone/>
            </a:pPr>
            <a:r>
              <a:rPr lang="tr-TR" sz="1600" dirty="0">
                <a:solidFill>
                  <a:schemeClr val="bg1"/>
                </a:solidFill>
                <a:latin typeface="Quicksand" pitchFamily="2" charset="-94"/>
              </a:rPr>
              <a:t>Şifre Gücü: Uzun, karmaşık ve rastgele karakterlerden oluşan şifreler tercih edilmelidir. Güçlü şifreler, </a:t>
            </a:r>
            <a:r>
              <a:rPr lang="tr-TR" sz="1600" dirty="0" err="1">
                <a:solidFill>
                  <a:schemeClr val="bg1"/>
                </a:solidFill>
                <a:latin typeface="Quicksand" pitchFamily="2" charset="-94"/>
              </a:rPr>
              <a:t>brute</a:t>
            </a:r>
            <a:r>
              <a:rPr lang="tr-TR" sz="1600" dirty="0">
                <a:solidFill>
                  <a:schemeClr val="bg1"/>
                </a:solidFill>
                <a:latin typeface="Quicksand" pitchFamily="2" charset="-94"/>
              </a:rPr>
              <a:t> </a:t>
            </a:r>
            <a:r>
              <a:rPr lang="tr-TR" sz="1600" dirty="0" err="1">
                <a:solidFill>
                  <a:schemeClr val="bg1"/>
                </a:solidFill>
                <a:latin typeface="Quicksand" pitchFamily="2" charset="-94"/>
              </a:rPr>
              <a:t>force</a:t>
            </a:r>
            <a:r>
              <a:rPr lang="tr-TR" sz="1600" dirty="0">
                <a:solidFill>
                  <a:schemeClr val="bg1"/>
                </a:solidFill>
                <a:latin typeface="Quicksand" pitchFamily="2" charset="-94"/>
              </a:rPr>
              <a:t> saldırılarına dayanıklıdır.</a:t>
            </a:r>
          </a:p>
          <a:p>
            <a:pPr marL="0" indent="0">
              <a:lnSpc>
                <a:spcPct val="210000"/>
              </a:lnSpc>
              <a:buNone/>
            </a:pPr>
            <a:r>
              <a:rPr lang="tr-TR" sz="1600" dirty="0">
                <a:solidFill>
                  <a:schemeClr val="bg1"/>
                </a:solidFill>
                <a:latin typeface="Quicksand" pitchFamily="2" charset="-94"/>
              </a:rPr>
              <a:t>Gizli Ağ Adı (SSID): Ağ adını gizlemek, ağın güvenliğini artırabilir. Ancak, bu sadece bir ek güvenlik katmanıdır ve tek başına yeterli değildir. SSID; Bazı kablosuz yönlendiriciler, varsayılan olarak üretici tarafından belirlenen bir SSID ile gelir. Ancak, güvenlik nedenleriyle, kullanıcılar genellikle kendi özgün </a:t>
            </a:r>
            <a:r>
              <a:rPr lang="tr-TR" sz="1600" dirty="0" err="1">
                <a:solidFill>
                  <a:schemeClr val="bg1"/>
                </a:solidFill>
                <a:latin typeface="Quicksand" pitchFamily="2" charset="-94"/>
              </a:rPr>
              <a:t>SSID'lerini</a:t>
            </a:r>
            <a:r>
              <a:rPr lang="tr-TR" sz="1600" dirty="0">
                <a:solidFill>
                  <a:schemeClr val="bg1"/>
                </a:solidFill>
                <a:latin typeface="Quicksand" pitchFamily="2" charset="-94"/>
              </a:rPr>
              <a:t> ve şifrelerini ayarlarlar.</a:t>
            </a:r>
          </a:p>
          <a:p>
            <a:pPr marL="0" indent="0">
              <a:lnSpc>
                <a:spcPct val="210000"/>
              </a:lnSpc>
              <a:buNone/>
            </a:pPr>
            <a:r>
              <a:rPr lang="tr-TR" sz="1600" dirty="0">
                <a:solidFill>
                  <a:schemeClr val="bg1"/>
                </a:solidFill>
                <a:latin typeface="Quicksand" pitchFamily="2" charset="-94"/>
              </a:rPr>
              <a:t>MAC Adresi Filtreleme: Kablosuz ağa bağlanacak cihazların MAC adreslerini filtrelemek, yetkisiz erişimleri sınırlamak için kullanılabilir. Ancak, MAC adresi taklit edilebileceği için bu yöntem tek başına güvenli değildir.</a:t>
            </a:r>
          </a:p>
        </p:txBody>
      </p:sp>
    </p:spTree>
    <p:extLst>
      <p:ext uri="{BB962C8B-B14F-4D97-AF65-F5344CB8AC3E}">
        <p14:creationId xmlns:p14="http://schemas.microsoft.com/office/powerpoint/2010/main" val="371082967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ctrTitle"/>
          </p:nvPr>
        </p:nvSpPr>
        <p:spPr>
          <a:xfrm>
            <a:off x="1524000" y="3069000"/>
            <a:ext cx="9144000" cy="720000"/>
          </a:xfrm>
        </p:spPr>
        <p:txBody>
          <a:bodyPr>
            <a:noAutofit/>
          </a:bodyPr>
          <a:lstStyle/>
          <a:p>
            <a:r>
              <a:rPr lang="tr-TR" sz="4400" cap="none" dirty="0">
                <a:solidFill>
                  <a:schemeClr val="bg1"/>
                </a:solidFill>
                <a:latin typeface="Quicksand" pitchFamily="2" charset="-94"/>
              </a:rPr>
              <a:t>Güvenli Ağ Tasarımı</a:t>
            </a:r>
          </a:p>
        </p:txBody>
      </p:sp>
    </p:spTree>
    <p:extLst>
      <p:ext uri="{BB962C8B-B14F-4D97-AF65-F5344CB8AC3E}">
        <p14:creationId xmlns:p14="http://schemas.microsoft.com/office/powerpoint/2010/main" val="290686957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65125"/>
            <a:ext cx="10515600" cy="720000"/>
          </a:xfrm>
        </p:spPr>
        <p:txBody>
          <a:bodyPr>
            <a:normAutofit/>
          </a:bodyPr>
          <a:lstStyle/>
          <a:p>
            <a:r>
              <a:rPr lang="tr-TR" cap="none" dirty="0" err="1">
                <a:solidFill>
                  <a:schemeClr val="bg1"/>
                </a:solidFill>
                <a:latin typeface="Quicksand" pitchFamily="2" charset="-94"/>
              </a:rPr>
              <a:t>Zonlama</a:t>
            </a:r>
            <a:r>
              <a:rPr lang="tr-TR" cap="none" dirty="0">
                <a:solidFill>
                  <a:schemeClr val="bg1"/>
                </a:solidFill>
                <a:latin typeface="Quicksand" pitchFamily="2" charset="-94"/>
              </a:rPr>
              <a:t> (</a:t>
            </a:r>
            <a:r>
              <a:rPr lang="tr-TR" cap="none" dirty="0" err="1">
                <a:solidFill>
                  <a:schemeClr val="bg1"/>
                </a:solidFill>
                <a:latin typeface="Quicksand" pitchFamily="2" charset="-94"/>
              </a:rPr>
              <a:t>Subnetting</a:t>
            </a:r>
            <a:r>
              <a:rPr lang="tr-TR" cap="none" dirty="0">
                <a:solidFill>
                  <a:schemeClr val="bg1"/>
                </a:solidFill>
                <a:latin typeface="Quicksand" pitchFamily="2" charset="-94"/>
              </a:rPr>
              <a:t>)</a:t>
            </a:r>
          </a:p>
        </p:txBody>
      </p:sp>
      <p:sp>
        <p:nvSpPr>
          <p:cNvPr id="3" name="İçerik Yer Tutucusu 2"/>
          <p:cNvSpPr>
            <a:spLocks noGrp="1"/>
          </p:cNvSpPr>
          <p:nvPr>
            <p:ph idx="1"/>
          </p:nvPr>
        </p:nvSpPr>
        <p:spPr/>
        <p:txBody>
          <a:bodyPr>
            <a:normAutofit/>
          </a:bodyPr>
          <a:lstStyle/>
          <a:p>
            <a:pPr marL="0" indent="0">
              <a:lnSpc>
                <a:spcPct val="200000"/>
              </a:lnSpc>
              <a:buNone/>
            </a:pPr>
            <a:r>
              <a:rPr lang="tr-TR" sz="1600" dirty="0" err="1">
                <a:solidFill>
                  <a:schemeClr val="bg1"/>
                </a:solidFill>
                <a:latin typeface="Quicksand" pitchFamily="2" charset="-94"/>
              </a:rPr>
              <a:t>Zonlama</a:t>
            </a:r>
            <a:r>
              <a:rPr lang="tr-TR" sz="1600" dirty="0">
                <a:solidFill>
                  <a:schemeClr val="bg1"/>
                </a:solidFill>
                <a:latin typeface="Quicksand" pitchFamily="2" charset="-94"/>
              </a:rPr>
              <a:t>, ağı mantıklı bölgelere ayırma ve her bölgeyi izole etme anlamına gelir. Bu izolasyon, ağ içindeki saldırıların yayılmasını sınırlar ve bir saldırının sadece belirli bir bölgeyi etkilemesini sağlar.</a:t>
            </a:r>
          </a:p>
          <a:p>
            <a:pPr marL="0" indent="0">
              <a:lnSpc>
                <a:spcPct val="200000"/>
              </a:lnSpc>
              <a:buNone/>
            </a:pPr>
            <a:r>
              <a:rPr lang="tr-TR" sz="1600" dirty="0">
                <a:solidFill>
                  <a:schemeClr val="bg1"/>
                </a:solidFill>
                <a:latin typeface="Quicksand" pitchFamily="2" charset="-94"/>
              </a:rPr>
              <a:t>Örneğin, ağınızı iç ve dış bölgeler olarak iki ana bölgeye ayırabilirsiniz. Dış bölgeler, internetle doğrudan bağlantıyı içerirken, iç bölgeler daha güvenli ve hassas bilgilerin bulunduğu alanları içerir. Bu sayede dış kaynaklı saldırılar iç bölgeye zarar vermeden önce bir dış güvenlik duvarı tarafından engellenebilir. </a:t>
            </a:r>
          </a:p>
        </p:txBody>
      </p:sp>
    </p:spTree>
    <p:extLst>
      <p:ext uri="{BB962C8B-B14F-4D97-AF65-F5344CB8AC3E}">
        <p14:creationId xmlns:p14="http://schemas.microsoft.com/office/powerpoint/2010/main" val="93766740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65125"/>
            <a:ext cx="10515600" cy="720000"/>
          </a:xfrm>
        </p:spPr>
        <p:txBody>
          <a:bodyPr>
            <a:normAutofit/>
          </a:bodyPr>
          <a:lstStyle/>
          <a:p>
            <a:r>
              <a:rPr lang="tr-TR" cap="none" dirty="0" err="1">
                <a:solidFill>
                  <a:schemeClr val="bg1"/>
                </a:solidFill>
                <a:latin typeface="Quicksand" pitchFamily="2" charset="-94"/>
              </a:rPr>
              <a:t>Segmentasyon</a:t>
            </a:r>
            <a:endParaRPr lang="tr-TR" cap="none" dirty="0">
              <a:solidFill>
                <a:schemeClr val="bg1"/>
              </a:solidFill>
              <a:latin typeface="Quicksand" pitchFamily="2" charset="-94"/>
            </a:endParaRPr>
          </a:p>
        </p:txBody>
      </p:sp>
      <p:sp>
        <p:nvSpPr>
          <p:cNvPr id="3" name="İçerik Yer Tutucusu 2"/>
          <p:cNvSpPr>
            <a:spLocks noGrp="1"/>
          </p:cNvSpPr>
          <p:nvPr>
            <p:ph idx="1"/>
          </p:nvPr>
        </p:nvSpPr>
        <p:spPr/>
        <p:txBody>
          <a:bodyPr>
            <a:normAutofit/>
          </a:bodyPr>
          <a:lstStyle/>
          <a:p>
            <a:pPr marL="0" indent="0">
              <a:lnSpc>
                <a:spcPct val="200000"/>
              </a:lnSpc>
              <a:buNone/>
            </a:pPr>
            <a:r>
              <a:rPr lang="tr-TR" sz="1600" dirty="0" err="1">
                <a:solidFill>
                  <a:schemeClr val="bg1"/>
                </a:solidFill>
                <a:latin typeface="Quicksand" pitchFamily="2" charset="-94"/>
              </a:rPr>
              <a:t>Segmentasyon</a:t>
            </a:r>
            <a:r>
              <a:rPr lang="tr-TR" sz="1600" dirty="0">
                <a:solidFill>
                  <a:schemeClr val="bg1"/>
                </a:solidFill>
                <a:latin typeface="Quicksand" pitchFamily="2" charset="-94"/>
              </a:rPr>
              <a:t>, ağı daha küçük parçalara ayırma ve her bir parçayı izole etme işlemidir. Bu, ağ içindeki trafiği kontrol etmeyi ve sınırlamayı sağlar.</a:t>
            </a:r>
          </a:p>
          <a:p>
            <a:pPr marL="0" indent="0">
              <a:lnSpc>
                <a:spcPct val="200000"/>
              </a:lnSpc>
              <a:buNone/>
            </a:pPr>
            <a:r>
              <a:rPr lang="tr-TR" sz="1600" dirty="0">
                <a:solidFill>
                  <a:schemeClr val="bg1"/>
                </a:solidFill>
                <a:latin typeface="Quicksand" pitchFamily="2" charset="-94"/>
              </a:rPr>
              <a:t>Örneğin, iç bölgeler arasında </a:t>
            </a:r>
            <a:r>
              <a:rPr lang="tr-TR" sz="1600" dirty="0" err="1">
                <a:solidFill>
                  <a:schemeClr val="bg1"/>
                </a:solidFill>
                <a:latin typeface="Quicksand" pitchFamily="2" charset="-94"/>
              </a:rPr>
              <a:t>segmentasyon</a:t>
            </a:r>
            <a:r>
              <a:rPr lang="tr-TR" sz="1600" dirty="0">
                <a:solidFill>
                  <a:schemeClr val="bg1"/>
                </a:solidFill>
                <a:latin typeface="Quicksand" pitchFamily="2" charset="-94"/>
              </a:rPr>
              <a:t> yapabilirsiniz. Finans, insan kaynakları ve araştırma departmanları gibi farklı işlevlere sahip bölümler arasındaki trafiği sınırlayarak, bir bölümdeki bir güvenlik ihlalinin diğer bölümleri etkilemesini önleyebilirsiniz.</a:t>
            </a:r>
          </a:p>
        </p:txBody>
      </p:sp>
    </p:spTree>
    <p:extLst>
      <p:ext uri="{BB962C8B-B14F-4D97-AF65-F5344CB8AC3E}">
        <p14:creationId xmlns:p14="http://schemas.microsoft.com/office/powerpoint/2010/main" val="426488303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65125"/>
            <a:ext cx="10515600" cy="720000"/>
          </a:xfrm>
        </p:spPr>
        <p:txBody>
          <a:bodyPr>
            <a:normAutofit/>
          </a:bodyPr>
          <a:lstStyle/>
          <a:p>
            <a:r>
              <a:rPr lang="tr-TR" sz="3600" cap="none" dirty="0">
                <a:solidFill>
                  <a:schemeClr val="bg1"/>
                </a:solidFill>
                <a:latin typeface="Quicksand" pitchFamily="2" charset="-94"/>
              </a:rPr>
              <a:t>Yedekleme Ve Kurtarma</a:t>
            </a:r>
          </a:p>
        </p:txBody>
      </p:sp>
      <p:sp>
        <p:nvSpPr>
          <p:cNvPr id="3" name="İçerik Yer Tutucusu 2"/>
          <p:cNvSpPr>
            <a:spLocks noGrp="1"/>
          </p:cNvSpPr>
          <p:nvPr>
            <p:ph idx="1"/>
          </p:nvPr>
        </p:nvSpPr>
        <p:spPr/>
        <p:txBody>
          <a:bodyPr>
            <a:normAutofit/>
          </a:bodyPr>
          <a:lstStyle/>
          <a:p>
            <a:pPr marL="0" indent="0">
              <a:lnSpc>
                <a:spcPct val="200000"/>
              </a:lnSpc>
              <a:buNone/>
            </a:pPr>
            <a:r>
              <a:rPr lang="tr-TR" sz="1600" dirty="0">
                <a:solidFill>
                  <a:schemeClr val="bg1"/>
                </a:solidFill>
                <a:latin typeface="Quicksand" pitchFamily="2" charset="-94"/>
              </a:rPr>
              <a:t>Yedekleme ve kurtarma, veri kaybını en aza indirmek, sistemlerin hızla geri yüklenmesini sağlamak ve saldırılar veya felaket durumlarından sonra işleyişi aksatmamak amacıyla kullanılır.</a:t>
            </a:r>
          </a:p>
        </p:txBody>
      </p:sp>
    </p:spTree>
    <p:extLst>
      <p:ext uri="{BB962C8B-B14F-4D97-AF65-F5344CB8AC3E}">
        <p14:creationId xmlns:p14="http://schemas.microsoft.com/office/powerpoint/2010/main" val="755170443"/>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65125"/>
            <a:ext cx="10515600" cy="720000"/>
          </a:xfrm>
        </p:spPr>
        <p:txBody>
          <a:bodyPr>
            <a:normAutofit/>
          </a:bodyPr>
          <a:lstStyle/>
          <a:p>
            <a:r>
              <a:rPr lang="tr-TR" cap="none" dirty="0">
                <a:solidFill>
                  <a:schemeClr val="bg1"/>
                </a:solidFill>
                <a:latin typeface="Quicksand" pitchFamily="2" charset="-94"/>
              </a:rPr>
              <a:t>Yedekleme Stratejileri</a:t>
            </a:r>
          </a:p>
        </p:txBody>
      </p:sp>
      <p:sp>
        <p:nvSpPr>
          <p:cNvPr id="3" name="İçerik Yer Tutucusu 2"/>
          <p:cNvSpPr>
            <a:spLocks noGrp="1"/>
          </p:cNvSpPr>
          <p:nvPr>
            <p:ph idx="1"/>
          </p:nvPr>
        </p:nvSpPr>
        <p:spPr/>
        <p:txBody>
          <a:bodyPr>
            <a:normAutofit/>
          </a:bodyPr>
          <a:lstStyle/>
          <a:p>
            <a:pPr marL="0" indent="0">
              <a:lnSpc>
                <a:spcPct val="200000"/>
              </a:lnSpc>
              <a:buNone/>
            </a:pPr>
            <a:r>
              <a:rPr lang="tr-TR" sz="1600" dirty="0">
                <a:solidFill>
                  <a:schemeClr val="bg1"/>
                </a:solidFill>
                <a:latin typeface="Quicksand" pitchFamily="2" charset="-94"/>
              </a:rPr>
              <a:t>Tam yedekleme, tüm verileri </a:t>
            </a:r>
            <a:r>
              <a:rPr lang="tr-TR" sz="1600" dirty="0" err="1">
                <a:solidFill>
                  <a:schemeClr val="bg1"/>
                </a:solidFill>
                <a:latin typeface="Quicksand" pitchFamily="2" charset="-94"/>
              </a:rPr>
              <a:t>yedelemektir</a:t>
            </a:r>
            <a:r>
              <a:rPr lang="tr-TR" sz="1600" dirty="0">
                <a:solidFill>
                  <a:schemeClr val="bg1"/>
                </a:solidFill>
                <a:latin typeface="Quicksand" pitchFamily="2" charset="-94"/>
              </a:rPr>
              <a:t>.</a:t>
            </a:r>
          </a:p>
          <a:p>
            <a:pPr marL="0" indent="0">
              <a:lnSpc>
                <a:spcPct val="200000"/>
              </a:lnSpc>
              <a:buNone/>
            </a:pPr>
            <a:r>
              <a:rPr lang="tr-TR" sz="1600" dirty="0">
                <a:solidFill>
                  <a:schemeClr val="bg1"/>
                </a:solidFill>
                <a:latin typeface="Quicksand" pitchFamily="2" charset="-94"/>
              </a:rPr>
              <a:t>Diferansiyel yedekleme sadece önceki tam yedeklemenin üzerinde yapılan değişiklikleri içerir.</a:t>
            </a:r>
          </a:p>
          <a:p>
            <a:pPr marL="0" indent="0">
              <a:lnSpc>
                <a:spcPct val="200000"/>
              </a:lnSpc>
              <a:buNone/>
            </a:pPr>
            <a:r>
              <a:rPr lang="tr-TR" sz="1600" dirty="0">
                <a:solidFill>
                  <a:schemeClr val="bg1"/>
                </a:solidFill>
                <a:latin typeface="Quicksand" pitchFamily="2" charset="-94"/>
              </a:rPr>
              <a:t>Çoklu Yedekleme Noktaları: Farklı zamanlarda yapılan yedeklemeler, farklı durumları kapsayabilir. Bu, örneğin, bir önceki gün, hafta veya ayın durumunu içerir.</a:t>
            </a:r>
          </a:p>
        </p:txBody>
      </p:sp>
    </p:spTree>
    <p:extLst>
      <p:ext uri="{BB962C8B-B14F-4D97-AF65-F5344CB8AC3E}">
        <p14:creationId xmlns:p14="http://schemas.microsoft.com/office/powerpoint/2010/main" val="223312234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65125"/>
            <a:ext cx="10515600" cy="720000"/>
          </a:xfrm>
        </p:spPr>
        <p:txBody>
          <a:bodyPr>
            <a:normAutofit/>
          </a:bodyPr>
          <a:lstStyle/>
          <a:p>
            <a:r>
              <a:rPr lang="tr-TR" sz="3600" cap="none" dirty="0">
                <a:solidFill>
                  <a:schemeClr val="bg1"/>
                </a:solidFill>
                <a:latin typeface="Quicksand" pitchFamily="2" charset="-94"/>
              </a:rPr>
              <a:t>Kurtarma Stratejileri</a:t>
            </a:r>
          </a:p>
        </p:txBody>
      </p:sp>
      <p:sp>
        <p:nvSpPr>
          <p:cNvPr id="3" name="İçerik Yer Tutucusu 2"/>
          <p:cNvSpPr>
            <a:spLocks noGrp="1"/>
          </p:cNvSpPr>
          <p:nvPr>
            <p:ph idx="1"/>
          </p:nvPr>
        </p:nvSpPr>
        <p:spPr/>
        <p:txBody>
          <a:bodyPr>
            <a:normAutofit/>
          </a:bodyPr>
          <a:lstStyle/>
          <a:p>
            <a:pPr marL="0" indent="0">
              <a:lnSpc>
                <a:spcPct val="200000"/>
              </a:lnSpc>
              <a:buNone/>
            </a:pPr>
            <a:r>
              <a:rPr lang="tr-TR" sz="1600" dirty="0">
                <a:solidFill>
                  <a:schemeClr val="bg1"/>
                </a:solidFill>
                <a:latin typeface="Quicksand" pitchFamily="2" charset="-94"/>
              </a:rPr>
              <a:t>Acil durumda, sistemlerin ve verilerin ne kadar sürede kurtarılacağını belirten planlar oluşturulmalıdır.</a:t>
            </a:r>
          </a:p>
        </p:txBody>
      </p:sp>
    </p:spTree>
    <p:extLst>
      <p:ext uri="{BB962C8B-B14F-4D97-AF65-F5344CB8AC3E}">
        <p14:creationId xmlns:p14="http://schemas.microsoft.com/office/powerpoint/2010/main" val="859039270"/>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vre">
  <a:themeElements>
    <a:clrScheme name="Devre">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Devre">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vre">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Devre</Template>
  <TotalTime>33</TotalTime>
  <Words>1054</Words>
  <Application>Microsoft Office PowerPoint</Application>
  <PresentationFormat>Geniş ekran</PresentationFormat>
  <Paragraphs>60</Paragraphs>
  <Slides>18</Slides>
  <Notes>0</Notes>
  <HiddenSlides>0</HiddenSlides>
  <MMClips>0</MMClips>
  <ScaleCrop>false</ScaleCrop>
  <HeadingPairs>
    <vt:vector size="4" baseType="variant">
      <vt:variant>
        <vt:lpstr>Tema</vt:lpstr>
      </vt:variant>
      <vt:variant>
        <vt:i4>1</vt:i4>
      </vt:variant>
      <vt:variant>
        <vt:lpstr>Slayt Başlıkları</vt:lpstr>
      </vt:variant>
      <vt:variant>
        <vt:i4>18</vt:i4>
      </vt:variant>
    </vt:vector>
  </HeadingPairs>
  <TitlesOfParts>
    <vt:vector size="19" baseType="lpstr">
      <vt:lpstr>Devre</vt:lpstr>
      <vt:lpstr>Temel Ağ Güvenliği</vt:lpstr>
      <vt:lpstr>Tanım</vt:lpstr>
      <vt:lpstr>Ağ Güvenliğinin Önemi</vt:lpstr>
      <vt:lpstr>Ağ Güvenliği İlkeleri</vt:lpstr>
      <vt:lpstr>Ağ Güvenliği Araçları</vt:lpstr>
      <vt:lpstr>Güvenlik Duvarları Ve Saldırı Tespit Sistemleri</vt:lpstr>
      <vt:lpstr>Güvenlik Duvarı</vt:lpstr>
      <vt:lpstr>Ağ Saldırılarının Tespiti Ve Önleme Sistemi</vt:lpstr>
      <vt:lpstr>Ağ Saldırılarının Tespiti Ve Önleme Sistemi</vt:lpstr>
      <vt:lpstr>Kablosuz Ağ Güvenliği</vt:lpstr>
      <vt:lpstr>WPA Ve WPA2 Protokolleri</vt:lpstr>
      <vt:lpstr>Kablosuz Ağlarda Şifreleme</vt:lpstr>
      <vt:lpstr>Güvenli Ağ Tasarımı</vt:lpstr>
      <vt:lpstr>Zonlama (Subnetting)</vt:lpstr>
      <vt:lpstr>Segmentasyon</vt:lpstr>
      <vt:lpstr>Yedekleme Ve Kurtarma</vt:lpstr>
      <vt:lpstr>Yedekleme Stratejileri</vt:lpstr>
      <vt:lpstr>Kurtarma Stratejileri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Temel Ağ Güvenliği</dc:title>
  <dc:creator>Hakan İçellioğlu</dc:creator>
  <cp:lastModifiedBy>Hakan İçellioğlu</cp:lastModifiedBy>
  <cp:revision>7</cp:revision>
  <dcterms:created xsi:type="dcterms:W3CDTF">2023-12-24T11:31:04Z</dcterms:created>
  <dcterms:modified xsi:type="dcterms:W3CDTF">2023-12-24T12:49:08Z</dcterms:modified>
</cp:coreProperties>
</file>